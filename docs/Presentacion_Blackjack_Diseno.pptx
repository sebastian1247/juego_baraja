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eban Verduzco Raggio" userId="2094cd06-0cb0-4cd1-966e-d19650ed34d2" providerId="ADAL" clId="{F413C675-38F1-493E-977A-78BBDE94487B}"/>
    <pc:docChg chg="custSel modSld">
      <pc:chgData name="Esteban Verduzco Raggio" userId="2094cd06-0cb0-4cd1-966e-d19650ed34d2" providerId="ADAL" clId="{F413C675-38F1-493E-977A-78BBDE94487B}" dt="2026-10-08T16:36:33.205" v="137" actId="20577"/>
      <pc:docMkLst>
        <pc:docMk/>
      </pc:docMkLst>
      <pc:sldChg chg="modSp mod">
        <pc:chgData name="Esteban Verduzco Raggio" userId="2094cd06-0cb0-4cd1-966e-d19650ed34d2" providerId="ADAL" clId="{F413C675-38F1-493E-977A-78BBDE94487B}" dt="2026-10-06T14:27:29.540" v="23" actId="20577"/>
        <pc:sldMkLst>
          <pc:docMk/>
          <pc:sldMk cId="141299130" sldId="262"/>
        </pc:sldMkLst>
        <pc:spChg chg="mod">
          <ac:chgData name="Esteban Verduzco Raggio" userId="2094cd06-0cb0-4cd1-966e-d19650ed34d2" providerId="ADAL" clId="{F413C675-38F1-493E-977A-78BBDE94487B}" dt="2026-10-06T14:27:29.540" v="23" actId="20577"/>
          <ac:spMkLst>
            <pc:docMk/>
            <pc:sldMk cId="141299130" sldId="262"/>
            <ac:spMk id="15" creationId="{FD1F2FFB-71A8-AF27-D140-E98C1194CD0C}"/>
          </ac:spMkLst>
        </pc:spChg>
      </pc:sldChg>
      <pc:sldChg chg="modSp mod">
        <pc:chgData name="Esteban Verduzco Raggio" userId="2094cd06-0cb0-4cd1-966e-d19650ed34d2" providerId="ADAL" clId="{F413C675-38F1-493E-977A-78BBDE94487B}" dt="2026-10-08T15:59:01.485" v="106" actId="20577"/>
        <pc:sldMkLst>
          <pc:docMk/>
          <pc:sldMk cId="4219183123" sldId="268"/>
        </pc:sldMkLst>
        <pc:spChg chg="mod">
          <ac:chgData name="Esteban Verduzco Raggio" userId="2094cd06-0cb0-4cd1-966e-d19650ed34d2" providerId="ADAL" clId="{F413C675-38F1-493E-977A-78BBDE94487B}" dt="2026-10-08T15:59:01.485" v="106" actId="20577"/>
          <ac:spMkLst>
            <pc:docMk/>
            <pc:sldMk cId="4219183123" sldId="268"/>
            <ac:spMk id="11" creationId="{80A57A18-5B50-91CD-140B-795B23E122F8}"/>
          </ac:spMkLst>
        </pc:spChg>
      </pc:sldChg>
      <pc:sldChg chg="modSp mod">
        <pc:chgData name="Esteban Verduzco Raggio" userId="2094cd06-0cb0-4cd1-966e-d19650ed34d2" providerId="ADAL" clId="{F413C675-38F1-493E-977A-78BBDE94487B}" dt="2026-10-08T15:44:30.599" v="98" actId="20577"/>
        <pc:sldMkLst>
          <pc:docMk/>
          <pc:sldMk cId="346411595" sldId="269"/>
        </pc:sldMkLst>
        <pc:spChg chg="mod">
          <ac:chgData name="Esteban Verduzco Raggio" userId="2094cd06-0cb0-4cd1-966e-d19650ed34d2" providerId="ADAL" clId="{F413C675-38F1-493E-977A-78BBDE94487B}" dt="2026-10-08T15:44:13.891" v="61" actId="20577"/>
          <ac:spMkLst>
            <pc:docMk/>
            <pc:sldMk cId="346411595" sldId="269"/>
            <ac:spMk id="17" creationId="{C9305CCB-9737-F982-DD0D-B6E92D52786D}"/>
          </ac:spMkLst>
        </pc:spChg>
        <pc:spChg chg="mod">
          <ac:chgData name="Esteban Verduzco Raggio" userId="2094cd06-0cb0-4cd1-966e-d19650ed34d2" providerId="ADAL" clId="{F413C675-38F1-493E-977A-78BBDE94487B}" dt="2026-10-08T15:44:30.599" v="98" actId="20577"/>
          <ac:spMkLst>
            <pc:docMk/>
            <pc:sldMk cId="346411595" sldId="269"/>
            <ac:spMk id="21" creationId="{599230AD-A9F6-F3CB-EF38-A6CD9867C2AE}"/>
          </ac:spMkLst>
        </pc:spChg>
      </pc:sldChg>
      <pc:sldChg chg="modSp mod">
        <pc:chgData name="Esteban Verduzco Raggio" userId="2094cd06-0cb0-4cd1-966e-d19650ed34d2" providerId="ADAL" clId="{F413C675-38F1-493E-977A-78BBDE94487B}" dt="2026-10-08T16:36:33.205" v="137" actId="20577"/>
        <pc:sldMkLst>
          <pc:docMk/>
          <pc:sldMk cId="3345720358" sldId="270"/>
        </pc:sldMkLst>
        <pc:spChg chg="mod">
          <ac:chgData name="Esteban Verduzco Raggio" userId="2094cd06-0cb0-4cd1-966e-d19650ed34d2" providerId="ADAL" clId="{F413C675-38F1-493E-977A-78BBDE94487B}" dt="2026-10-08T16:36:33.205" v="137" actId="20577"/>
          <ac:spMkLst>
            <pc:docMk/>
            <pc:sldMk cId="3345720358" sldId="270"/>
            <ac:spMk id="9" creationId="{ADD822D1-B08A-40C6-23C4-5CAFE56268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95703-BE84-C675-F1EE-93FF87E5D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5E01BA-D13B-07C3-0617-20B950343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7382C9-6A8F-2CD3-EB05-EF735E95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1F0C19-9AD0-4824-6207-FDBE2C29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DD5528-A57B-8A3D-CA61-83313A8A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4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1C7CE-2375-3F94-0B59-F1899D1C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A47F35-7239-FBAC-81CF-873BB6B8F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7949C8-AC91-E249-ECB3-E25C023B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3892BD-DCA6-4ECD-2E6F-2D6AD9EFD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9A5484-7FEF-BF98-308C-AFD2FDF3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6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DB9DA-E823-268C-1638-13D1EB87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DB609C-A0E9-2035-C6C8-569F63818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5EBDF0-EDC8-B140-97FD-56DACB40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10A1F-EB84-706F-270D-9CD6F0C2F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B48B6D-354B-3965-F876-84BE01EE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7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E5EDD-01BB-D446-B183-4D666F042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4284F0-BFBB-8AA8-F24E-735CC7190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2597CC-6B95-19D2-CB21-01E6AA8FC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BAA266-5DDF-3009-DB46-A66FE2D34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76E0A0-A978-B6B7-85A7-551B57E9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07AFE1-A971-97F7-CEE9-13535C72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4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08594-0DA3-B3A3-352D-B690BF884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FF69F3-48BC-0B99-D726-6111227EE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27ACE9-8F2D-FB26-1FC5-03EEC72B5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36E0F7-A2DA-735C-EE14-3D4D7F8B9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0FF6327-F8D1-ED8A-043D-C48BBA3A4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61E5F5-B668-3FD0-BFCC-7895AEB8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9C9460D-9ED7-76E7-A184-70E15BBD7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D37154-2E3C-4B9D-C36A-2C6A75A8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49413-CA5A-7E45-37B4-013801A7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DD98315-E315-1BF8-8AFE-978F15A1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4154D0-0497-ACDD-614D-114E032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83CAEF-D47F-7973-BA3C-FAA1BFBC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9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3773FB6-DFC1-E197-B14F-DE4EB7CFD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EE59BF-294E-4E28-E384-37CD98F3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42C23B-FD43-9DDB-0E75-CF888C12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6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5D4D9-44EC-8EEF-832D-3E2BBFC1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52B437-C40F-C90D-3165-FF40EE5A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F78A54-5F97-DB4B-D91B-7580ED6FE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A8BB19-29E4-2EB2-AEE8-F541A33D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7AB8DF-B17E-F096-01A8-54D622EF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53B3C4-EBB0-7376-04BB-D1B04898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BC9A6-795B-037E-2138-67D65FCD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AB29E78-0D36-1D65-4D6F-94EBF94FCD9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365B6C-E9CE-1F9B-040C-F28C2B427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D49525-45AD-FC6A-958B-3E1A4C4A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55986A-D423-2FEE-AB50-00796127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BD94F5-1CFD-BEF7-223D-FC798435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1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74496-1607-C820-9B99-767155F7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1A7153-D10E-3174-0871-67DCB6B0A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A625F3-CC35-0490-C0D3-32042E96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B41AAE-CBA3-A66B-420F-04807843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BAB50D-B794-FDB3-A338-59F1AA40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1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59B5E4-9F39-6297-D8B5-0134D6DBF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A0CA6E-5DCF-B860-3470-3E55F5110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BE918F-547E-59F2-5EBD-94AA8581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A49BC4-5F96-9EAE-E495-A6A7C5BB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A53935-C109-53B4-CB73-A3651A15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43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713DC7-EDFD-4EF3-767D-F028004E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E86976-0BCE-8B86-EE8F-EE3A94DE4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F328B4-6BC5-3AC4-4DB8-2EAA52CC3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78B32-AA84-49F7-9CD4-27FC31DE7CE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97FC8B-B490-70A9-AD3A-57925596C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0B42BE-A625-B02C-5409-C4B100D8C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D452A-B1F9-4123-A362-981F102F97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4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5776C50-CC14-B9E9-EB32-7172EFFB7329}"/>
              </a:ext>
            </a:extLst>
          </p:cNvPr>
          <p:cNvSpPr/>
          <p:nvPr/>
        </p:nvSpPr>
        <p:spPr>
          <a:xfrm>
            <a:off x="8366760" y="777240"/>
            <a:ext cx="1965960" cy="1965960"/>
          </a:xfrm>
          <a:prstGeom prst="ellipse">
            <a:avLst/>
          </a:prstGeom>
          <a:solidFill>
            <a:srgbClr val="205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B946F20-B66F-F6C2-FBF2-22787933EC65}"/>
              </a:ext>
            </a:extLst>
          </p:cNvPr>
          <p:cNvSpPr/>
          <p:nvPr/>
        </p:nvSpPr>
        <p:spPr>
          <a:xfrm>
            <a:off x="9006840" y="1536192"/>
            <a:ext cx="1261872" cy="1261872"/>
          </a:xfrm>
          <a:prstGeom prst="ellipse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96E9548-D6B0-FC51-9D54-C26A3CB8F257}"/>
              </a:ext>
            </a:extLst>
          </p:cNvPr>
          <p:cNvSpPr/>
          <p:nvPr/>
        </p:nvSpPr>
        <p:spPr>
          <a:xfrm>
            <a:off x="9555480" y="2066544"/>
            <a:ext cx="658369" cy="658368"/>
          </a:xfrm>
          <a:prstGeom prst="ellipse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976043F-03AC-9CB7-8BC3-A9A7E3BEBC6E}"/>
              </a:ext>
            </a:extLst>
          </p:cNvPr>
          <p:cNvSpPr txBox="1"/>
          <p:nvPr/>
        </p:nvSpPr>
        <p:spPr>
          <a:xfrm>
            <a:off x="868680" y="987552"/>
            <a:ext cx="6858000" cy="3657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200" b="1">
                <a:solidFill>
                  <a:srgbClr val="81D1C7"/>
                </a:solidFill>
                <a:latin typeface="Aptos" panose="020B0004020202020204" pitchFamily="34" charset="0"/>
              </a:rPr>
              <a:t>JAVA  ·  APLICACIÓN DE CONSOLA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70FB51-E78A-121B-CAAA-483659C24F4E}"/>
              </a:ext>
            </a:extLst>
          </p:cNvPr>
          <p:cNvSpPr txBox="1"/>
          <p:nvPr/>
        </p:nvSpPr>
        <p:spPr>
          <a:xfrm>
            <a:off x="822960" y="1783080"/>
            <a:ext cx="7589520" cy="71323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3800" b="1">
                <a:solidFill>
                  <a:srgbClr val="FFF9EE"/>
                </a:solidFill>
                <a:latin typeface="Aptos" panose="020B0004020202020204" pitchFamily="34" charset="0"/>
              </a:rPr>
              <a:t>Blackjack en Java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9674006-5E8F-317F-8D35-B5918825358E}"/>
              </a:ext>
            </a:extLst>
          </p:cNvPr>
          <p:cNvSpPr txBox="1"/>
          <p:nvPr/>
        </p:nvSpPr>
        <p:spPr>
          <a:xfrm>
            <a:off x="896112" y="2852928"/>
            <a:ext cx="6949440" cy="6400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100">
                <a:solidFill>
                  <a:srgbClr val="CDDBD8"/>
                </a:solidFill>
                <a:latin typeface="Aptos" panose="020B0004020202020204" pitchFamily="34" charset="0"/>
              </a:rPr>
              <a:t>Estructura, reglas y recorrido de una partida</a:t>
            </a:r>
            <a:endParaRPr lang="en-US" sz="2100">
              <a:solidFill>
                <a:srgbClr val="CDDBD8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36BBCBA-6774-F0D3-8182-21589596DA7A}"/>
              </a:ext>
            </a:extLst>
          </p:cNvPr>
          <p:cNvSpPr/>
          <p:nvPr/>
        </p:nvSpPr>
        <p:spPr>
          <a:xfrm>
            <a:off x="896112" y="5138928"/>
            <a:ext cx="3749040" cy="54864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90C2CD-0DCE-48D9-5BAA-1D86247699B2}"/>
              </a:ext>
            </a:extLst>
          </p:cNvPr>
          <p:cNvSpPr txBox="1"/>
          <p:nvPr/>
        </p:nvSpPr>
        <p:spPr>
          <a:xfrm>
            <a:off x="987552" y="5239512"/>
            <a:ext cx="3566160" cy="310896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 b="1">
                <a:solidFill>
                  <a:srgbClr val="152A3A"/>
                </a:solidFill>
                <a:latin typeface="Aptos" panose="020B0004020202020204" pitchFamily="34" charset="0"/>
              </a:rPr>
              <a:t>Dos modalidades · Hasta seis jugadores</a:t>
            </a:r>
            <a:endParaRPr lang="en-US" sz="12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161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ED19322-CB9C-824E-7D31-739E9F8119FE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5F14E1F-666D-9672-BFC4-DF35D0358985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01 · ESTRUCTURA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1E157F3-6B45-4EE6-A21C-7B7375D02C01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500" b="1">
                <a:solidFill>
                  <a:srgbClr val="152A3A"/>
                </a:solidFill>
                <a:latin typeface="Aptos" panose="020B0004020202020204" pitchFamily="34" charset="0"/>
              </a:rPr>
              <a:t>Responsabilidades del sistema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BBE93F3-1542-DDE9-145E-4F68F36376F5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F530BBB-7D10-D61E-9F09-D8283916C769}"/>
              </a:ext>
            </a:extLst>
          </p:cNvPr>
          <p:cNvSpPr/>
          <p:nvPr/>
        </p:nvSpPr>
        <p:spPr>
          <a:xfrm>
            <a:off x="841248" y="1627632"/>
            <a:ext cx="3182112" cy="141732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1FB1EE9-12CD-E0A8-443F-57EB47BA86BF}"/>
              </a:ext>
            </a:extLst>
          </p:cNvPr>
          <p:cNvSpPr/>
          <p:nvPr/>
        </p:nvSpPr>
        <p:spPr>
          <a:xfrm>
            <a:off x="1024128" y="1810512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5BDDC43-B850-3841-B3E2-0974FE5F1309}"/>
              </a:ext>
            </a:extLst>
          </p:cNvPr>
          <p:cNvSpPr txBox="1"/>
          <p:nvPr/>
        </p:nvSpPr>
        <p:spPr>
          <a:xfrm>
            <a:off x="1225296" y="1773936"/>
            <a:ext cx="2679192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App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ACA039-A4DB-F9FD-0786-6B710698D4BD}"/>
              </a:ext>
            </a:extLst>
          </p:cNvPr>
          <p:cNvSpPr txBox="1"/>
          <p:nvPr/>
        </p:nvSpPr>
        <p:spPr>
          <a:xfrm>
            <a:off x="1069848" y="2340864"/>
            <a:ext cx="2724912" cy="5943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300">
                <a:solidFill>
                  <a:srgbClr val="263B4A"/>
                </a:solidFill>
                <a:latin typeface="Aptos" panose="020B0004020202020204" pitchFamily="34" charset="0"/>
              </a:rPr>
              <a:t>Elige la versión individual o multijugador.</a:t>
            </a:r>
            <a:endParaRPr lang="en-US" sz="13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FEA151D-01EB-939E-1D9C-4083538CB101}"/>
              </a:ext>
            </a:extLst>
          </p:cNvPr>
          <p:cNvSpPr/>
          <p:nvPr/>
        </p:nvSpPr>
        <p:spPr>
          <a:xfrm>
            <a:off x="8156448" y="1627632"/>
            <a:ext cx="3182112" cy="1417320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DEB4310-79BE-90C4-4706-450AE9E03788}"/>
              </a:ext>
            </a:extLst>
          </p:cNvPr>
          <p:cNvSpPr/>
          <p:nvPr/>
        </p:nvSpPr>
        <p:spPr>
          <a:xfrm>
            <a:off x="8339328" y="1810512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BB89BFC-FD99-A04A-DE68-7CCA5AC27AA3}"/>
              </a:ext>
            </a:extLst>
          </p:cNvPr>
          <p:cNvSpPr txBox="1"/>
          <p:nvPr/>
        </p:nvSpPr>
        <p:spPr>
          <a:xfrm>
            <a:off x="8540496" y="1773936"/>
            <a:ext cx="2679192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ConsolaBlackjack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F2C8156-CA5D-DB97-5FAB-3644F60DD89E}"/>
              </a:ext>
            </a:extLst>
          </p:cNvPr>
          <p:cNvSpPr txBox="1"/>
          <p:nvPr/>
        </p:nvSpPr>
        <p:spPr>
          <a:xfrm>
            <a:off x="8385048" y="2340864"/>
            <a:ext cx="2724912" cy="5943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200">
                <a:solidFill>
                  <a:srgbClr val="263B4A"/>
                </a:solidFill>
                <a:latin typeface="Aptos" panose="020B0004020202020204" pitchFamily="34" charset="0"/>
              </a:rPr>
              <a:t>Pide datos, valida entradas y presenta la mesa.</a:t>
            </a:r>
            <a:endParaRPr lang="en-US" sz="12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264D6F6-3865-C0D3-1F08-56EA9200EAB8}"/>
              </a:ext>
            </a:extLst>
          </p:cNvPr>
          <p:cNvSpPr/>
          <p:nvPr/>
        </p:nvSpPr>
        <p:spPr>
          <a:xfrm>
            <a:off x="841248" y="3749040"/>
            <a:ext cx="3182112" cy="1417320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80DD032-42B1-CBEB-30AE-FD11E8E02BAA}"/>
              </a:ext>
            </a:extLst>
          </p:cNvPr>
          <p:cNvSpPr/>
          <p:nvPr/>
        </p:nvSpPr>
        <p:spPr>
          <a:xfrm>
            <a:off x="1024128" y="3931920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661EF7A-D499-53CB-15F2-93830957161E}"/>
              </a:ext>
            </a:extLst>
          </p:cNvPr>
          <p:cNvSpPr txBox="1"/>
          <p:nvPr/>
        </p:nvSpPr>
        <p:spPr>
          <a:xfrm>
            <a:off x="1225296" y="3895344"/>
            <a:ext cx="2679192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Modelo de cartas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968C58-21CC-2076-79D3-9AB03A35BFBA}"/>
              </a:ext>
            </a:extLst>
          </p:cNvPr>
          <p:cNvSpPr txBox="1"/>
          <p:nvPr/>
        </p:nvSpPr>
        <p:spPr>
          <a:xfrm>
            <a:off x="1069848" y="4462272"/>
            <a:ext cx="2724912" cy="5943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300">
                <a:solidFill>
                  <a:srgbClr val="263B4A"/>
                </a:solidFill>
                <a:latin typeface="Aptos" panose="020B0004020202020204" pitchFamily="34" charset="0"/>
              </a:rPr>
              <a:t>Carta, Palo, Rango, Mazo y Mano.</a:t>
            </a:r>
            <a:endParaRPr lang="en-US" sz="13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07CF75B-E3A0-E321-A99D-465A97E0F69F}"/>
              </a:ext>
            </a:extLst>
          </p:cNvPr>
          <p:cNvSpPr/>
          <p:nvPr/>
        </p:nvSpPr>
        <p:spPr>
          <a:xfrm>
            <a:off x="8156448" y="3749040"/>
            <a:ext cx="3182112" cy="1417320"/>
          </a:xfrm>
          <a:prstGeom prst="roundRect">
            <a:avLst/>
          </a:prstGeom>
          <a:solidFill>
            <a:srgbClr val="D8E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8031F9E6-FF99-B235-CE61-CB57B01F41E3}"/>
              </a:ext>
            </a:extLst>
          </p:cNvPr>
          <p:cNvSpPr/>
          <p:nvPr/>
        </p:nvSpPr>
        <p:spPr>
          <a:xfrm>
            <a:off x="8339328" y="3931920"/>
            <a:ext cx="73152" cy="365760"/>
          </a:xfrm>
          <a:prstGeom prst="roundRect">
            <a:avLst/>
          </a:prstGeom>
          <a:solidFill>
            <a:srgbClr val="6A7C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B6380A5-EE63-39A7-A828-45C0B51D5C81}"/>
              </a:ext>
            </a:extLst>
          </p:cNvPr>
          <p:cNvSpPr txBox="1"/>
          <p:nvPr/>
        </p:nvSpPr>
        <p:spPr>
          <a:xfrm>
            <a:off x="8540496" y="3895344"/>
            <a:ext cx="2679192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Participantes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FA6B5BF-8741-2668-4042-D974BCED4BF9}"/>
              </a:ext>
            </a:extLst>
          </p:cNvPr>
          <p:cNvSpPr txBox="1"/>
          <p:nvPr/>
        </p:nvSpPr>
        <p:spPr>
          <a:xfrm>
            <a:off x="8385048" y="4462272"/>
            <a:ext cx="2724912" cy="5943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200">
                <a:solidFill>
                  <a:srgbClr val="263B4A"/>
                </a:solidFill>
                <a:latin typeface="Aptos" panose="020B0004020202020204" pitchFamily="34" charset="0"/>
              </a:rPr>
              <a:t>Jugador y Croupier comparten nombre y mano.</a:t>
            </a:r>
            <a:endParaRPr lang="en-US" sz="12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9A0DF91-1F62-E9D2-5546-FE34CBD3F204}"/>
              </a:ext>
            </a:extLst>
          </p:cNvPr>
          <p:cNvSpPr/>
          <p:nvPr/>
        </p:nvSpPr>
        <p:spPr>
          <a:xfrm>
            <a:off x="4462272" y="2532888"/>
            <a:ext cx="3246120" cy="960120"/>
          </a:xfrm>
          <a:prstGeom prst="roundRect">
            <a:avLst/>
          </a:prstGeom>
          <a:solidFill>
            <a:srgbClr val="15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7DEFEC-E236-94C4-02A2-8E230CD1AE8D}"/>
              </a:ext>
            </a:extLst>
          </p:cNvPr>
          <p:cNvSpPr txBox="1"/>
          <p:nvPr/>
        </p:nvSpPr>
        <p:spPr>
          <a:xfrm>
            <a:off x="4617720" y="2679192"/>
            <a:ext cx="2926080" cy="32004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900" b="1">
                <a:solidFill>
                  <a:srgbClr val="FFF9EE"/>
                </a:solidFill>
                <a:latin typeface="Aptos" panose="020B0004020202020204" pitchFamily="34" charset="0"/>
              </a:rPr>
              <a:t>Blackjack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2A98CF4-8007-DDC4-FA6A-5C85DEFC0ADB}"/>
              </a:ext>
            </a:extLst>
          </p:cNvPr>
          <p:cNvSpPr txBox="1"/>
          <p:nvPr/>
        </p:nvSpPr>
        <p:spPr>
          <a:xfrm>
            <a:off x="4590288" y="3054096"/>
            <a:ext cx="2971800" cy="25603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81D1C7"/>
                </a:solidFill>
                <a:latin typeface="Aptos" panose="020B0004020202020204" pitchFamily="34" charset="0"/>
              </a:rPr>
              <a:t>base común para las dos modalidades</a:t>
            </a:r>
            <a:endParaRPr lang="en-US" sz="1200">
              <a:solidFill>
                <a:srgbClr val="81D1C7"/>
              </a:solidFill>
              <a:latin typeface="Aptos" panose="020B00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5142879-00DF-F4DC-3867-024A68D2E1A2}"/>
              </a:ext>
            </a:extLst>
          </p:cNvPr>
          <p:cNvSpPr txBox="1"/>
          <p:nvPr/>
        </p:nvSpPr>
        <p:spPr>
          <a:xfrm>
            <a:off x="1920240" y="5532120"/>
            <a:ext cx="8412480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BlackjackUnJugador administra uno; BlackjackMultijugador administra una lista.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33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1E4F953-83A2-A038-C17D-21287792F103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A88D241-D150-A3D0-E672-C7D25BB2E334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02 · ARRANQUE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4DCD66-06A3-F1DC-85D2-DA62BA0F7BBF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Arranque: se elige modalidad y ciclo común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642A36-075A-23C3-02B3-5FBC13224186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4FB45A2-D2FD-E6A4-7911-A49C7116B2D4}"/>
              </a:ext>
            </a:extLst>
          </p:cNvPr>
          <p:cNvSpPr/>
          <p:nvPr/>
        </p:nvSpPr>
        <p:spPr>
          <a:xfrm>
            <a:off x="804672" y="1691640"/>
            <a:ext cx="3364992" cy="361188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45621DB-33C8-4E5E-CE2F-00DB45626099}"/>
              </a:ext>
            </a:extLst>
          </p:cNvPr>
          <p:cNvSpPr/>
          <p:nvPr/>
        </p:nvSpPr>
        <p:spPr>
          <a:xfrm>
            <a:off x="987552" y="187452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90FACF-9067-29DB-7BA5-00E5EC388663}"/>
              </a:ext>
            </a:extLst>
          </p:cNvPr>
          <p:cNvSpPr txBox="1"/>
          <p:nvPr/>
        </p:nvSpPr>
        <p:spPr>
          <a:xfrm>
            <a:off x="1188720" y="1837944"/>
            <a:ext cx="2862072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000" b="1">
                <a:solidFill>
                  <a:srgbClr val="152A3A"/>
                </a:solidFill>
                <a:latin typeface="Aptos" panose="020B0004020202020204" pitchFamily="34" charset="0"/>
              </a:rPr>
              <a:t>1 · App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B8061E-D6FB-31D9-05A1-A30032525F47}"/>
              </a:ext>
            </a:extLst>
          </p:cNvPr>
          <p:cNvSpPr txBox="1"/>
          <p:nvPr/>
        </p:nvSpPr>
        <p:spPr>
          <a:xfrm>
            <a:off x="1033272" y="2404872"/>
            <a:ext cx="2907792" cy="2788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Configura UTF-8 y crea la consola.
Lee cuántos jugarán y elige la modalidad.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5CF68DB-551A-C44B-E1CE-EF82C9832129}"/>
              </a:ext>
            </a:extLst>
          </p:cNvPr>
          <p:cNvSpPr/>
          <p:nvPr/>
        </p:nvSpPr>
        <p:spPr>
          <a:xfrm>
            <a:off x="4407408" y="1691640"/>
            <a:ext cx="3364992" cy="3611880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7F5F786-9759-7B69-FAEA-187F6B536483}"/>
              </a:ext>
            </a:extLst>
          </p:cNvPr>
          <p:cNvSpPr/>
          <p:nvPr/>
        </p:nvSpPr>
        <p:spPr>
          <a:xfrm>
            <a:off x="4590288" y="1874520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D308007-F13C-62E9-5116-6953788A4425}"/>
              </a:ext>
            </a:extLst>
          </p:cNvPr>
          <p:cNvSpPr txBox="1"/>
          <p:nvPr/>
        </p:nvSpPr>
        <p:spPr>
          <a:xfrm>
            <a:off x="4791456" y="1837944"/>
            <a:ext cx="2862072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b="1">
                <a:solidFill>
                  <a:srgbClr val="152A3A"/>
                </a:solidFill>
                <a:latin typeface="Aptos" panose="020B0004020202020204" pitchFamily="34" charset="0"/>
              </a:rPr>
              <a:t>2 · JuegoDeCartas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BCEEDD1-5B7C-59FA-257C-760F57F65FD0}"/>
              </a:ext>
            </a:extLst>
          </p:cNvPr>
          <p:cNvSpPr txBox="1"/>
          <p:nvPr/>
        </p:nvSpPr>
        <p:spPr>
          <a:xfrm>
            <a:off x="4636008" y="2404872"/>
            <a:ext cx="2907792" cy="2788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Registra jugadores y repite rondas mientras haya alguien activo.
Mantiene fijo el orden general.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E4B590B-FF2F-1E53-117E-7CAA6CAE9069}"/>
              </a:ext>
            </a:extLst>
          </p:cNvPr>
          <p:cNvSpPr/>
          <p:nvPr/>
        </p:nvSpPr>
        <p:spPr>
          <a:xfrm>
            <a:off x="8010144" y="1691640"/>
            <a:ext cx="3364991" cy="3611880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158C5EA-3663-5401-AE90-7F30D038D2CD}"/>
              </a:ext>
            </a:extLst>
          </p:cNvPr>
          <p:cNvSpPr/>
          <p:nvPr/>
        </p:nvSpPr>
        <p:spPr>
          <a:xfrm>
            <a:off x="8193024" y="1874520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A5AFB68-6E69-B7DA-7248-7FBF1DCFC47C}"/>
              </a:ext>
            </a:extLst>
          </p:cNvPr>
          <p:cNvSpPr txBox="1"/>
          <p:nvPr/>
        </p:nvSpPr>
        <p:spPr>
          <a:xfrm>
            <a:off x="8394192" y="1837944"/>
            <a:ext cx="2862072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000" b="1">
                <a:solidFill>
                  <a:srgbClr val="152A3A"/>
                </a:solidFill>
                <a:latin typeface="Aptos" panose="020B0004020202020204" pitchFamily="34" charset="0"/>
              </a:rPr>
              <a:t>3 · Blackjack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4DD881B-AD5E-8C19-AEAE-769A65A67FF0}"/>
              </a:ext>
            </a:extLst>
          </p:cNvPr>
          <p:cNvSpPr txBox="1"/>
          <p:nvPr/>
        </p:nvSpPr>
        <p:spPr>
          <a:xfrm>
            <a:off x="8238744" y="2404872"/>
            <a:ext cx="2907792" cy="2788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La base abstracta comparte apuestas, reparto, turnos y resultados.
Las subclases completan cada modalidad.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0243638-4E17-67AC-CD60-ADA2F0D45D51}"/>
              </a:ext>
            </a:extLst>
          </p:cNvPr>
          <p:cNvSpPr txBox="1"/>
          <p:nvPr/>
        </p:nvSpPr>
        <p:spPr>
          <a:xfrm>
            <a:off x="1188720" y="5623560"/>
            <a:ext cx="9875520" cy="3657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Al construir el juego se fija la apuesta mínima y la estrategia del croupier.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95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D92E8FA-E49E-9F06-8048-028C9BE82F25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4E24675-EEC0-4EC1-5644-AC9486338318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03 · CICLO DE VIDA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07E969-395B-EC52-4006-D85F82CF9236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El ciclo de una partida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FA002E-BE27-7216-6F5D-9FFAC35D8936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6622A01-D569-A736-6F3A-D80A5762811B}"/>
              </a:ext>
            </a:extLst>
          </p:cNvPr>
          <p:cNvSpPr/>
          <p:nvPr/>
        </p:nvSpPr>
        <p:spPr>
          <a:xfrm>
            <a:off x="1289304" y="2103120"/>
            <a:ext cx="658368" cy="658368"/>
          </a:xfrm>
          <a:prstGeom prst="ellipse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C795D9-EBBA-C06B-677D-2D7911C67B92}"/>
              </a:ext>
            </a:extLst>
          </p:cNvPr>
          <p:cNvSpPr txBox="1"/>
          <p:nvPr/>
        </p:nvSpPr>
        <p:spPr>
          <a:xfrm>
            <a:off x="1289304" y="2276856"/>
            <a:ext cx="658368" cy="25603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FFF9EE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DC3D7C-A451-2896-56B3-8F85A9D26806}"/>
              </a:ext>
            </a:extLst>
          </p:cNvPr>
          <p:cNvSpPr txBox="1"/>
          <p:nvPr/>
        </p:nvSpPr>
        <p:spPr>
          <a:xfrm>
            <a:off x="713232" y="3017520"/>
            <a:ext cx="1828800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52A3A"/>
                </a:solidFill>
                <a:latin typeface="Aptos" panose="020B0004020202020204" pitchFamily="34" charset="0"/>
              </a:rPr>
              <a:t>REGISTRO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4C7B50-9FE3-94E5-72A3-DF6AA3D330EF}"/>
              </a:ext>
            </a:extLst>
          </p:cNvPr>
          <p:cNvSpPr txBox="1"/>
          <p:nvPr/>
        </p:nvSpPr>
        <p:spPr>
          <a:xfrm>
            <a:off x="713232" y="3493008"/>
            <a:ext cx="1828800" cy="6400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>
                <a:solidFill>
                  <a:srgbClr val="263B4A"/>
                </a:solidFill>
                <a:latin typeface="Aptos" panose="020B0004020202020204" pitchFamily="34" charset="0"/>
              </a:rPr>
              <a:t>Nombres y saldo inicial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0FD2A3-613F-FCF8-1AE4-FC7A0FF90A46}"/>
              </a:ext>
            </a:extLst>
          </p:cNvPr>
          <p:cNvSpPr txBox="1"/>
          <p:nvPr/>
        </p:nvSpPr>
        <p:spPr>
          <a:xfrm>
            <a:off x="2706624" y="2231136"/>
            <a:ext cx="594360" cy="3657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200" b="1">
                <a:solidFill>
                  <a:srgbClr val="168A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F035740-C198-2674-01D5-7E8746E314A6}"/>
              </a:ext>
            </a:extLst>
          </p:cNvPr>
          <p:cNvSpPr/>
          <p:nvPr/>
        </p:nvSpPr>
        <p:spPr>
          <a:xfrm>
            <a:off x="4187952" y="2103120"/>
            <a:ext cx="658368" cy="658368"/>
          </a:xfrm>
          <a:prstGeom prst="ellipse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7777E9-C485-E35F-D9A6-C68231446905}"/>
              </a:ext>
            </a:extLst>
          </p:cNvPr>
          <p:cNvSpPr txBox="1"/>
          <p:nvPr/>
        </p:nvSpPr>
        <p:spPr>
          <a:xfrm>
            <a:off x="4187952" y="2276856"/>
            <a:ext cx="658368" cy="25603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FFF9EE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557C648-91D7-6369-B683-C6F61AB3EB4A}"/>
              </a:ext>
            </a:extLst>
          </p:cNvPr>
          <p:cNvSpPr txBox="1"/>
          <p:nvPr/>
        </p:nvSpPr>
        <p:spPr>
          <a:xfrm>
            <a:off x="3611880" y="3017520"/>
            <a:ext cx="1828800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52A3A"/>
                </a:solidFill>
                <a:latin typeface="Aptos" panose="020B0004020202020204" pitchFamily="34" charset="0"/>
              </a:rPr>
              <a:t>RONDA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C1FED26-6A19-E266-3F28-AF721E3A1420}"/>
              </a:ext>
            </a:extLst>
          </p:cNvPr>
          <p:cNvSpPr txBox="1"/>
          <p:nvPr/>
        </p:nvSpPr>
        <p:spPr>
          <a:xfrm>
            <a:off x="3611880" y="3493008"/>
            <a:ext cx="1828800" cy="6400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>
                <a:solidFill>
                  <a:srgbClr val="263B4A"/>
                </a:solidFill>
                <a:latin typeface="Aptos" panose="020B0004020202020204" pitchFamily="34" charset="0"/>
              </a:rPr>
              <a:t>Apuesta hasta limpieza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B70B795-D863-5A34-39CF-CC4E513DBC49}"/>
              </a:ext>
            </a:extLst>
          </p:cNvPr>
          <p:cNvSpPr txBox="1"/>
          <p:nvPr/>
        </p:nvSpPr>
        <p:spPr>
          <a:xfrm>
            <a:off x="5605272" y="2231136"/>
            <a:ext cx="594360" cy="3657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200" b="1">
                <a:solidFill>
                  <a:srgbClr val="168A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9085B2F-851A-DB35-9116-F71CE3122060}"/>
              </a:ext>
            </a:extLst>
          </p:cNvPr>
          <p:cNvSpPr/>
          <p:nvPr/>
        </p:nvSpPr>
        <p:spPr>
          <a:xfrm>
            <a:off x="7086600" y="2103120"/>
            <a:ext cx="658368" cy="658368"/>
          </a:xfrm>
          <a:prstGeom prst="ellipse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9A693A-C1AE-D3D5-43F2-53C0D5FFE4F8}"/>
              </a:ext>
            </a:extLst>
          </p:cNvPr>
          <p:cNvSpPr txBox="1"/>
          <p:nvPr/>
        </p:nvSpPr>
        <p:spPr>
          <a:xfrm>
            <a:off x="7086600" y="2276856"/>
            <a:ext cx="658368" cy="25603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FFF9EE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4C13D5A-4F58-DC2F-443D-0B6DB7855734}"/>
              </a:ext>
            </a:extLst>
          </p:cNvPr>
          <p:cNvSpPr txBox="1"/>
          <p:nvPr/>
        </p:nvSpPr>
        <p:spPr>
          <a:xfrm>
            <a:off x="6510528" y="3017520"/>
            <a:ext cx="1828800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52A3A"/>
                </a:solidFill>
                <a:latin typeface="Aptos" panose="020B0004020202020204" pitchFamily="34" charset="0"/>
              </a:rPr>
              <a:t>ACTIVIDAD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AEC43B7-4CCB-E128-6DB9-A08F7B3B7FA3}"/>
              </a:ext>
            </a:extLst>
          </p:cNvPr>
          <p:cNvSpPr txBox="1"/>
          <p:nvPr/>
        </p:nvSpPr>
        <p:spPr>
          <a:xfrm>
            <a:off x="6510528" y="3493008"/>
            <a:ext cx="1828800" cy="6400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>
                <a:solidFill>
                  <a:srgbClr val="263B4A"/>
                </a:solidFill>
                <a:latin typeface="Aptos" panose="020B0004020202020204" pitchFamily="34" charset="0"/>
              </a:rPr>
              <a:t>¿Quedan jugadores?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81EC1AC-F078-FDCA-A79B-B979967E0D36}"/>
              </a:ext>
            </a:extLst>
          </p:cNvPr>
          <p:cNvSpPr txBox="1"/>
          <p:nvPr/>
        </p:nvSpPr>
        <p:spPr>
          <a:xfrm>
            <a:off x="8503920" y="2231136"/>
            <a:ext cx="594360" cy="3657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200" b="1">
                <a:solidFill>
                  <a:srgbClr val="168A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F11CA5BE-F1A3-27CF-ABC0-CCD0B2A38084}"/>
              </a:ext>
            </a:extLst>
          </p:cNvPr>
          <p:cNvSpPr/>
          <p:nvPr/>
        </p:nvSpPr>
        <p:spPr>
          <a:xfrm>
            <a:off x="9985248" y="2103120"/>
            <a:ext cx="658368" cy="658368"/>
          </a:xfrm>
          <a:prstGeom prst="ellipse">
            <a:avLst/>
          </a:prstGeom>
          <a:solidFill>
            <a:srgbClr val="15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B29D658-A2F5-FF1D-B179-2357B431BDC3}"/>
              </a:ext>
            </a:extLst>
          </p:cNvPr>
          <p:cNvSpPr txBox="1"/>
          <p:nvPr/>
        </p:nvSpPr>
        <p:spPr>
          <a:xfrm>
            <a:off x="9985248" y="2276856"/>
            <a:ext cx="658368" cy="25603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FFF9EE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1F0757C-0AD5-4868-67CC-F11D20C1E28D}"/>
              </a:ext>
            </a:extLst>
          </p:cNvPr>
          <p:cNvSpPr txBox="1"/>
          <p:nvPr/>
        </p:nvSpPr>
        <p:spPr>
          <a:xfrm>
            <a:off x="9409176" y="3017520"/>
            <a:ext cx="1828800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52A3A"/>
                </a:solidFill>
                <a:latin typeface="Aptos" panose="020B0004020202020204" pitchFamily="34" charset="0"/>
              </a:rPr>
              <a:t>CIERRE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13F556F-4998-2A20-7E02-324EFFAC0207}"/>
              </a:ext>
            </a:extLst>
          </p:cNvPr>
          <p:cNvSpPr txBox="1"/>
          <p:nvPr/>
        </p:nvSpPr>
        <p:spPr>
          <a:xfrm>
            <a:off x="9409176" y="3493008"/>
            <a:ext cx="1828800" cy="6400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>
                <a:solidFill>
                  <a:srgbClr val="263B4A"/>
                </a:solidFill>
                <a:latin typeface="Aptos" panose="020B0004020202020204" pitchFamily="34" charset="0"/>
              </a:rPr>
              <a:t>Anuncio del final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439E911-9836-6B6B-228B-4CD704D3AFA9}"/>
              </a:ext>
            </a:extLst>
          </p:cNvPr>
          <p:cNvSpPr/>
          <p:nvPr/>
        </p:nvSpPr>
        <p:spPr>
          <a:xfrm>
            <a:off x="1874520" y="4800600"/>
            <a:ext cx="8412480" cy="685800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41F853B-5EE8-E0D9-E6A4-0860B4A9DACF}"/>
              </a:ext>
            </a:extLst>
          </p:cNvPr>
          <p:cNvSpPr txBox="1"/>
          <p:nvPr/>
        </p:nvSpPr>
        <p:spPr>
          <a:xfrm>
            <a:off x="2057400" y="4965192"/>
            <a:ext cx="8046720" cy="310896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300">
                <a:solidFill>
                  <a:srgbClr val="263B4A"/>
                </a:solidFill>
                <a:latin typeface="Aptos" panose="020B0004020202020204" pitchFamily="34" charset="0"/>
              </a:rPr>
              <a:t>Tras cada ronda se comprueba quién puede y quiere continuar.</a:t>
            </a:r>
            <a:endParaRPr lang="en-US" sz="13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88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FB8CC86-B451-D930-EAE3-99D364392BAE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9F487EB-6535-7BC7-3494-CFDD02908A3F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04 · CONTROLADOR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D5CA7A2-8CA8-C1FD-2EFB-2828C588A62E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500" b="1">
                <a:solidFill>
                  <a:srgbClr val="152A3A"/>
                </a:solidFill>
                <a:latin typeface="Aptos" panose="020B0004020202020204" pitchFamily="34" charset="0"/>
              </a:rPr>
              <a:t>Blackjack reutiliza reglas entre modalidades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2FEBA7-3A21-4102-93E9-0B4E0FCAE46F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FAEA5B9-C874-2328-94AD-777AE557137B}"/>
              </a:ext>
            </a:extLst>
          </p:cNvPr>
          <p:cNvSpPr/>
          <p:nvPr/>
        </p:nvSpPr>
        <p:spPr>
          <a:xfrm>
            <a:off x="502920" y="2212848"/>
            <a:ext cx="1207008" cy="96012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9A310F-7ACA-B374-3005-42C0383AC50E}"/>
              </a:ext>
            </a:extLst>
          </p:cNvPr>
          <p:cNvSpPr txBox="1"/>
          <p:nvPr/>
        </p:nvSpPr>
        <p:spPr>
          <a:xfrm>
            <a:off x="548640" y="2450592"/>
            <a:ext cx="1115568" cy="502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52A3A"/>
                </a:solidFill>
                <a:latin typeface="Aptos" panose="020B0004020202020204" pitchFamily="34" charset="0"/>
              </a:rPr>
              <a:t>Mazo listo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DFAC65C-0EEA-62BF-6082-9798B03FC94A}"/>
              </a:ext>
            </a:extLst>
          </p:cNvPr>
          <p:cNvSpPr txBox="1"/>
          <p:nvPr/>
        </p:nvSpPr>
        <p:spPr>
          <a:xfrm>
            <a:off x="1764792" y="2450592"/>
            <a:ext cx="384048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100" b="1">
                <a:solidFill>
                  <a:srgbClr val="168A88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9478CE0-3392-50EE-58D2-8E08ED586CCB}"/>
              </a:ext>
            </a:extLst>
          </p:cNvPr>
          <p:cNvSpPr/>
          <p:nvPr/>
        </p:nvSpPr>
        <p:spPr>
          <a:xfrm>
            <a:off x="2212848" y="2212848"/>
            <a:ext cx="1207008" cy="960120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7FF5853-B572-DDD2-FF5E-BA5896531219}"/>
              </a:ext>
            </a:extLst>
          </p:cNvPr>
          <p:cNvSpPr txBox="1"/>
          <p:nvPr/>
        </p:nvSpPr>
        <p:spPr>
          <a:xfrm>
            <a:off x="2258568" y="2450592"/>
            <a:ext cx="1115568" cy="502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52A3A"/>
                </a:solidFill>
                <a:latin typeface="Aptos" panose="020B0004020202020204" pitchFamily="34" charset="0"/>
              </a:rPr>
              <a:t>Cortar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C549B86-4762-C528-0956-4797EEA2F2E6}"/>
              </a:ext>
            </a:extLst>
          </p:cNvPr>
          <p:cNvSpPr txBox="1"/>
          <p:nvPr/>
        </p:nvSpPr>
        <p:spPr>
          <a:xfrm>
            <a:off x="3474720" y="2450592"/>
            <a:ext cx="384048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100" b="1">
                <a:solidFill>
                  <a:srgbClr val="168A88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D92D4C7-E1B1-1D8F-AAD8-1F5ACAB4E1B3}"/>
              </a:ext>
            </a:extLst>
          </p:cNvPr>
          <p:cNvSpPr/>
          <p:nvPr/>
        </p:nvSpPr>
        <p:spPr>
          <a:xfrm>
            <a:off x="3922776" y="2212848"/>
            <a:ext cx="1207008" cy="960120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2FF4DA-6417-4016-3EAF-8A9315B11BC0}"/>
              </a:ext>
            </a:extLst>
          </p:cNvPr>
          <p:cNvSpPr txBox="1"/>
          <p:nvPr/>
        </p:nvSpPr>
        <p:spPr>
          <a:xfrm>
            <a:off x="3968496" y="2450592"/>
            <a:ext cx="1115568" cy="502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52A3A"/>
                </a:solidFill>
                <a:latin typeface="Aptos" panose="020B0004020202020204" pitchFamily="34" charset="0"/>
              </a:rPr>
              <a:t>Apostar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D7571D0-D797-758C-DE29-E63981331100}"/>
              </a:ext>
            </a:extLst>
          </p:cNvPr>
          <p:cNvSpPr txBox="1"/>
          <p:nvPr/>
        </p:nvSpPr>
        <p:spPr>
          <a:xfrm>
            <a:off x="5184648" y="2450592"/>
            <a:ext cx="384048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100" b="1">
                <a:solidFill>
                  <a:srgbClr val="168A88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B2B1214-086E-5260-06D3-502AFA4616F7}"/>
              </a:ext>
            </a:extLst>
          </p:cNvPr>
          <p:cNvSpPr/>
          <p:nvPr/>
        </p:nvSpPr>
        <p:spPr>
          <a:xfrm>
            <a:off x="5632704" y="2212848"/>
            <a:ext cx="1207008" cy="960120"/>
          </a:xfrm>
          <a:prstGeom prst="roundRect">
            <a:avLst/>
          </a:prstGeom>
          <a:solidFill>
            <a:srgbClr val="D8E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603FF63-3BC3-7AFA-DC82-EE8CDF4B75EC}"/>
              </a:ext>
            </a:extLst>
          </p:cNvPr>
          <p:cNvSpPr txBox="1"/>
          <p:nvPr/>
        </p:nvSpPr>
        <p:spPr>
          <a:xfrm>
            <a:off x="5678424" y="2450592"/>
            <a:ext cx="1115568" cy="502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52A3A"/>
                </a:solidFill>
                <a:latin typeface="Aptos" panose="020B0004020202020204" pitchFamily="34" charset="0"/>
              </a:rPr>
              <a:t>Repartir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D3EF748-0BE5-390F-ED47-ACC76FCBFBE9}"/>
              </a:ext>
            </a:extLst>
          </p:cNvPr>
          <p:cNvSpPr txBox="1"/>
          <p:nvPr/>
        </p:nvSpPr>
        <p:spPr>
          <a:xfrm>
            <a:off x="6894576" y="2450592"/>
            <a:ext cx="384048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100" b="1">
                <a:solidFill>
                  <a:srgbClr val="168A88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B5A6A3E-FEC8-9047-1D8A-06CB04A32A15}"/>
              </a:ext>
            </a:extLst>
          </p:cNvPr>
          <p:cNvSpPr/>
          <p:nvPr/>
        </p:nvSpPr>
        <p:spPr>
          <a:xfrm>
            <a:off x="7342632" y="2212848"/>
            <a:ext cx="1207007" cy="96012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BC94A04-AAF1-9949-5723-C95B22CE6C8E}"/>
              </a:ext>
            </a:extLst>
          </p:cNvPr>
          <p:cNvSpPr txBox="1"/>
          <p:nvPr/>
        </p:nvSpPr>
        <p:spPr>
          <a:xfrm>
            <a:off x="7388352" y="2450592"/>
            <a:ext cx="1115568" cy="502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52A3A"/>
                </a:solidFill>
                <a:latin typeface="Aptos" panose="020B0004020202020204" pitchFamily="34" charset="0"/>
              </a:rPr>
              <a:t>Turnos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63A53A3-FE59-A1BE-359B-ED9EEAD22C7C}"/>
              </a:ext>
            </a:extLst>
          </p:cNvPr>
          <p:cNvSpPr txBox="1"/>
          <p:nvPr/>
        </p:nvSpPr>
        <p:spPr>
          <a:xfrm>
            <a:off x="8604504" y="2450592"/>
            <a:ext cx="384048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100" b="1">
                <a:solidFill>
                  <a:srgbClr val="168A88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43B1286E-D7D2-6F80-A711-92F67F222EEB}"/>
              </a:ext>
            </a:extLst>
          </p:cNvPr>
          <p:cNvSpPr/>
          <p:nvPr/>
        </p:nvSpPr>
        <p:spPr>
          <a:xfrm>
            <a:off x="9052560" y="2212848"/>
            <a:ext cx="1207008" cy="960120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4C8B882-40A9-CF72-E9E7-317F99D4C32D}"/>
              </a:ext>
            </a:extLst>
          </p:cNvPr>
          <p:cNvSpPr txBox="1"/>
          <p:nvPr/>
        </p:nvSpPr>
        <p:spPr>
          <a:xfrm>
            <a:off x="9098280" y="2450592"/>
            <a:ext cx="1115568" cy="502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52A3A"/>
                </a:solidFill>
                <a:latin typeface="Aptos" panose="020B0004020202020204" pitchFamily="34" charset="0"/>
              </a:rPr>
              <a:t>Resolver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61E0313-60FC-7FC0-5EDC-BA67A6B16341}"/>
              </a:ext>
            </a:extLst>
          </p:cNvPr>
          <p:cNvSpPr txBox="1"/>
          <p:nvPr/>
        </p:nvSpPr>
        <p:spPr>
          <a:xfrm>
            <a:off x="10314432" y="2450592"/>
            <a:ext cx="384048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100" b="1">
                <a:solidFill>
                  <a:srgbClr val="168A88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43F20A87-449A-3B79-E8EB-11025B79DD42}"/>
              </a:ext>
            </a:extLst>
          </p:cNvPr>
          <p:cNvSpPr/>
          <p:nvPr/>
        </p:nvSpPr>
        <p:spPr>
          <a:xfrm>
            <a:off x="10762488" y="2212848"/>
            <a:ext cx="1207008" cy="960120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192597B-AB68-7553-18BE-4B94A01858DD}"/>
              </a:ext>
            </a:extLst>
          </p:cNvPr>
          <p:cNvSpPr txBox="1"/>
          <p:nvPr/>
        </p:nvSpPr>
        <p:spPr>
          <a:xfrm>
            <a:off x="10808208" y="2450592"/>
            <a:ext cx="1115568" cy="502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52A3A"/>
                </a:solidFill>
                <a:latin typeface="Aptos" panose="020B0004020202020204" pitchFamily="34" charset="0"/>
              </a:rPr>
              <a:t>Limpiar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2B084BD-553B-0E48-CDA7-3E751450A67E}"/>
              </a:ext>
            </a:extLst>
          </p:cNvPr>
          <p:cNvSpPr txBox="1"/>
          <p:nvPr/>
        </p:nvSpPr>
        <p:spPr>
          <a:xfrm>
            <a:off x="1005840" y="4160520"/>
            <a:ext cx="10149840" cy="8229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La base Blackjack comparte estas etapas; las subclases registran jugadores y controlan su recorrido.</a:t>
            </a:r>
            <a:endParaRPr lang="en-US" sz="15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783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6B34A78-7C11-CE52-9C1F-4126B5922F90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1488272-7C6E-2099-8043-A91A288A21F7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05 · CARTAS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BC6F3F-B4D5-4587-4415-4DBC98D6BDC5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Una carta combina palo y rango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B04151-B69E-CC91-37F9-EC31D14827E7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1B25BE2-FAD5-07B8-87F0-D1770631F668}"/>
              </a:ext>
            </a:extLst>
          </p:cNvPr>
          <p:cNvSpPr/>
          <p:nvPr/>
        </p:nvSpPr>
        <p:spPr>
          <a:xfrm>
            <a:off x="868680" y="1783080"/>
            <a:ext cx="3246120" cy="3401568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7098930-6004-3BE6-2C1B-B3B09481C775}"/>
              </a:ext>
            </a:extLst>
          </p:cNvPr>
          <p:cNvSpPr/>
          <p:nvPr/>
        </p:nvSpPr>
        <p:spPr>
          <a:xfrm>
            <a:off x="1051560" y="1965960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1EB9F2-5B53-1AE5-8FED-8698B58EEEFF}"/>
              </a:ext>
            </a:extLst>
          </p:cNvPr>
          <p:cNvSpPr txBox="1"/>
          <p:nvPr/>
        </p:nvSpPr>
        <p:spPr>
          <a:xfrm>
            <a:off x="1252728" y="1929384"/>
            <a:ext cx="27432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100" b="1">
                <a:solidFill>
                  <a:srgbClr val="152A3A"/>
                </a:solidFill>
                <a:latin typeface="Aptos" panose="020B0004020202020204" pitchFamily="34" charset="0"/>
              </a:rPr>
              <a:t>Palo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C055BF6-FEAD-F300-13E8-8E590FF7989F}"/>
              </a:ext>
            </a:extLst>
          </p:cNvPr>
          <p:cNvSpPr txBox="1"/>
          <p:nvPr/>
        </p:nvSpPr>
        <p:spPr>
          <a:xfrm>
            <a:off x="1097280" y="2496312"/>
            <a:ext cx="2788920" cy="2578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Corazón, diamante, trébol y pica.</a:t>
            </a:r>
          </a:p>
          <a:p>
            <a:endParaRPr lang="es-ES" sz="15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Cada uno tiene su símbolo.</a:t>
            </a:r>
            <a:endParaRPr lang="en-US" sz="15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E8FE69D-700E-3151-DA00-7D6B652B2F41}"/>
              </a:ext>
            </a:extLst>
          </p:cNvPr>
          <p:cNvSpPr/>
          <p:nvPr/>
        </p:nvSpPr>
        <p:spPr>
          <a:xfrm>
            <a:off x="4462272" y="1783080"/>
            <a:ext cx="3246120" cy="3401568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7A02401-9D44-1E33-2493-16B31EA49FEF}"/>
              </a:ext>
            </a:extLst>
          </p:cNvPr>
          <p:cNvSpPr/>
          <p:nvPr/>
        </p:nvSpPr>
        <p:spPr>
          <a:xfrm>
            <a:off x="4645152" y="196596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ABCB97-4C29-4F1D-9ADF-3E464D96A14D}"/>
              </a:ext>
            </a:extLst>
          </p:cNvPr>
          <p:cNvSpPr txBox="1"/>
          <p:nvPr/>
        </p:nvSpPr>
        <p:spPr>
          <a:xfrm>
            <a:off x="4846320" y="1929384"/>
            <a:ext cx="27432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100" b="1">
                <a:solidFill>
                  <a:srgbClr val="152A3A"/>
                </a:solidFill>
                <a:latin typeface="Aptos" panose="020B0004020202020204" pitchFamily="34" charset="0"/>
              </a:rPr>
              <a:t>Rango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AFA7160-2AAB-ED9E-FFFA-C7789FA1F01A}"/>
              </a:ext>
            </a:extLst>
          </p:cNvPr>
          <p:cNvSpPr txBox="1"/>
          <p:nvPr/>
        </p:nvSpPr>
        <p:spPr>
          <a:xfrm>
            <a:off x="4690872" y="2496312"/>
            <a:ext cx="2788920" cy="2578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Trece valores, del As al Rey.</a:t>
            </a:r>
          </a:p>
          <a:p>
            <a:endParaRPr lang="es-ES" sz="15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Cada rango conserva nombre y valor nominal.</a:t>
            </a:r>
            <a:endParaRPr lang="en-US" sz="15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0341FE0-B4A2-5D5B-5314-B04707B29852}"/>
              </a:ext>
            </a:extLst>
          </p:cNvPr>
          <p:cNvSpPr/>
          <p:nvPr/>
        </p:nvSpPr>
        <p:spPr>
          <a:xfrm>
            <a:off x="8055864" y="1783080"/>
            <a:ext cx="3246121" cy="3401568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1C3D3AD-70B0-ADA9-D441-50E361945561}"/>
              </a:ext>
            </a:extLst>
          </p:cNvPr>
          <p:cNvSpPr/>
          <p:nvPr/>
        </p:nvSpPr>
        <p:spPr>
          <a:xfrm>
            <a:off x="8238744" y="1965960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C7B663F-C9FC-0BA4-44DD-5A47A9EE2CAC}"/>
              </a:ext>
            </a:extLst>
          </p:cNvPr>
          <p:cNvSpPr txBox="1"/>
          <p:nvPr/>
        </p:nvSpPr>
        <p:spPr>
          <a:xfrm>
            <a:off x="8439912" y="1929384"/>
            <a:ext cx="27432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100" b="1">
                <a:solidFill>
                  <a:srgbClr val="152A3A"/>
                </a:solidFill>
                <a:latin typeface="Aptos" panose="020B0004020202020204" pitchFamily="34" charset="0"/>
              </a:rPr>
              <a:t>Carta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37DF7F2-5180-346B-CAB2-0717FBC50D66}"/>
              </a:ext>
            </a:extLst>
          </p:cNvPr>
          <p:cNvSpPr txBox="1"/>
          <p:nvPr/>
        </p:nvSpPr>
        <p:spPr>
          <a:xfrm>
            <a:off x="8284464" y="2496312"/>
            <a:ext cx="2788920" cy="2578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Combina un palo y un rango.</a:t>
            </a:r>
          </a:p>
          <a:p>
            <a:endParaRPr lang="es-ES" sz="15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Identifica Ases y figuras y permite mostrar cada carta.</a:t>
            </a:r>
            <a:endParaRPr lang="en-US" sz="15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CAD1AAE-52EF-F367-2EDC-444A4F607296}"/>
              </a:ext>
            </a:extLst>
          </p:cNvPr>
          <p:cNvSpPr txBox="1"/>
          <p:nvPr/>
        </p:nvSpPr>
        <p:spPr>
          <a:xfrm>
            <a:off x="1005840" y="5532120"/>
            <a:ext cx="10058400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Mano aplica las reglas del Blackjack a los valores de las cartas.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3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8E60F0A-CE9A-E1C7-42B0-E3E60993AE00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2B6F34-8474-64A2-FD47-53D11E8BE476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06 · MAZO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311BC-C6EC-6EFD-2A5C-DBCBC7DCEA93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Una secuencia aleatoria de 52 cartas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269899E-229E-6BE9-FB11-58A21FA3F501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D0A610D-3B27-A8DA-42F0-F4E9BC5911AC}"/>
              </a:ext>
            </a:extLst>
          </p:cNvPr>
          <p:cNvSpPr/>
          <p:nvPr/>
        </p:nvSpPr>
        <p:spPr>
          <a:xfrm>
            <a:off x="896112" y="1965960"/>
            <a:ext cx="2743200" cy="2944368"/>
          </a:xfrm>
          <a:prstGeom prst="roundRect">
            <a:avLst/>
          </a:prstGeom>
          <a:solidFill>
            <a:srgbClr val="15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3F309BC-4237-123A-5E82-B02635B0A482}"/>
              </a:ext>
            </a:extLst>
          </p:cNvPr>
          <p:cNvSpPr/>
          <p:nvPr/>
        </p:nvSpPr>
        <p:spPr>
          <a:xfrm>
            <a:off x="1078992" y="2139696"/>
            <a:ext cx="2743200" cy="2944368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444FCE-4004-62CF-93FC-F86DDDBC40F4}"/>
              </a:ext>
            </a:extLst>
          </p:cNvPr>
          <p:cNvSpPr txBox="1"/>
          <p:nvPr/>
        </p:nvSpPr>
        <p:spPr>
          <a:xfrm>
            <a:off x="1399032" y="2560320"/>
            <a:ext cx="2011680" cy="9144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5400" b="1">
                <a:solidFill>
                  <a:srgbClr val="FFF9EE"/>
                </a:solidFill>
                <a:latin typeface="Aptos" panose="020B0004020202020204" pitchFamily="34" charset="0"/>
              </a:rPr>
              <a:t>52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4E82B9-57EB-0820-57F7-F343D8B4406D}"/>
              </a:ext>
            </a:extLst>
          </p:cNvPr>
          <p:cNvSpPr txBox="1"/>
          <p:nvPr/>
        </p:nvSpPr>
        <p:spPr>
          <a:xfrm>
            <a:off x="1463040" y="3429000"/>
            <a:ext cx="1828800" cy="3657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700" b="1">
                <a:solidFill>
                  <a:srgbClr val="FFF9EE"/>
                </a:solidFill>
                <a:latin typeface="Aptos" panose="020B0004020202020204" pitchFamily="34" charset="0"/>
              </a:rPr>
              <a:t>cartas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C68B681-B341-045F-CF96-BB8C1FDF7D2D}"/>
              </a:ext>
            </a:extLst>
          </p:cNvPr>
          <p:cNvSpPr txBox="1"/>
          <p:nvPr/>
        </p:nvSpPr>
        <p:spPr>
          <a:xfrm>
            <a:off x="4617720" y="1874520"/>
            <a:ext cx="6400800" cy="38404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600" b="1">
                <a:solidFill>
                  <a:srgbClr val="168A88"/>
                </a:solidFill>
                <a:latin typeface="Aptos" panose="020B0004020202020204" pitchFamily="34" charset="0"/>
              </a:rPr>
              <a:t>GENERAR    →    MEZCLAR    →    CORTAR    →    EXTRAER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1E87C7A-3A13-4167-A135-72A4989ED783}"/>
              </a:ext>
            </a:extLst>
          </p:cNvPr>
          <p:cNvSpPr txBox="1"/>
          <p:nvPr/>
        </p:nvSpPr>
        <p:spPr>
          <a:xfrm>
            <a:off x="4617720" y="2532888"/>
            <a:ext cx="6492240" cy="13716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600">
                <a:solidFill>
                  <a:srgbClr val="263B4A"/>
                </a:solidFill>
                <a:latin typeface="Aptos" panose="020B0004020202020204" pitchFamily="34" charset="0"/>
              </a:rPr>
              <a:t>Cada combinación de palo y rango aparece una vez. Barajar cambia el orden; cortar rota la secuencia. Extraer elimina una carta del mazo.</a:t>
            </a:r>
            <a:endParaRPr lang="en-US" sz="16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582E9B0-A956-DF2F-13A4-538C8A05A8A8}"/>
              </a:ext>
            </a:extLst>
          </p:cNvPr>
          <p:cNvSpPr/>
          <p:nvPr/>
        </p:nvSpPr>
        <p:spPr>
          <a:xfrm>
            <a:off x="4572000" y="4553712"/>
            <a:ext cx="6400800" cy="960120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2103518-C1E8-9F8E-9EF0-42537A59E26D}"/>
              </a:ext>
            </a:extLst>
          </p:cNvPr>
          <p:cNvSpPr/>
          <p:nvPr/>
        </p:nvSpPr>
        <p:spPr>
          <a:xfrm>
            <a:off x="4754880" y="4736592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1C50062-6302-A458-C762-23C7C6BBC610}"/>
              </a:ext>
            </a:extLst>
          </p:cNvPr>
          <p:cNvSpPr txBox="1"/>
          <p:nvPr/>
        </p:nvSpPr>
        <p:spPr>
          <a:xfrm>
            <a:off x="4956048" y="4700016"/>
            <a:ext cx="58978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500" b="1">
                <a:solidFill>
                  <a:srgbClr val="152A3A"/>
                </a:solidFill>
                <a:latin typeface="Aptos" panose="020B0004020202020204" pitchFamily="34" charset="0"/>
              </a:rPr>
              <a:t>Mazo vacío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D1F2FFB-71A8-AF27-D140-E98C1194CD0C}"/>
              </a:ext>
            </a:extLst>
          </p:cNvPr>
          <p:cNvSpPr txBox="1"/>
          <p:nvPr/>
        </p:nvSpPr>
        <p:spPr>
          <a:xfrm>
            <a:off x="4800600" y="5266944"/>
            <a:ext cx="5943600" cy="1371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200" dirty="0">
                <a:solidFill>
                  <a:srgbClr val="263B4A"/>
                </a:solidFill>
                <a:latin typeface="Aptos" panose="020B0004020202020204" pitchFamily="34" charset="0"/>
              </a:rPr>
              <a:t>El croupier lo llena y lo baraja antes de repartir cartas.</a:t>
            </a:r>
            <a:endParaRPr lang="en-US" sz="1200" dirty="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5360D93-710C-68BC-3A9C-D6AFBD39CC3F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350501-B997-D059-C42F-2CF6492480D5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07 · PUNTUACIÓN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39BE36-8097-78C6-78CB-66EB0B42FB1B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Mano calcula el total según Blackjack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365DF1-084F-B2B0-D756-905EEA5A0E0F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9D4193F-8644-9C07-0F42-B8B0D4D54C03}"/>
              </a:ext>
            </a:extLst>
          </p:cNvPr>
          <p:cNvSpPr/>
          <p:nvPr/>
        </p:nvSpPr>
        <p:spPr>
          <a:xfrm>
            <a:off x="749808" y="1847088"/>
            <a:ext cx="1783080" cy="3063240"/>
          </a:xfrm>
          <a:prstGeom prst="roundRect">
            <a:avLst/>
          </a:prstGeom>
          <a:solidFill>
            <a:srgbClr val="15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12A671C-F6B0-6C36-5CC4-59752EA40D79}"/>
              </a:ext>
            </a:extLst>
          </p:cNvPr>
          <p:cNvSpPr txBox="1"/>
          <p:nvPr/>
        </p:nvSpPr>
        <p:spPr>
          <a:xfrm>
            <a:off x="841248" y="2834640"/>
            <a:ext cx="1600200" cy="8686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5700" b="1">
                <a:solidFill>
                  <a:srgbClr val="FFF9EE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649F20-4B0F-4190-43AB-215052A6970F}"/>
              </a:ext>
            </a:extLst>
          </p:cNvPr>
          <p:cNvSpPr txBox="1"/>
          <p:nvPr/>
        </p:nvSpPr>
        <p:spPr>
          <a:xfrm>
            <a:off x="841248" y="3886200"/>
            <a:ext cx="1600200" cy="32004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81D1C7"/>
                </a:solidFill>
                <a:latin typeface="Aptos" panose="020B0004020202020204" pitchFamily="34" charset="0"/>
              </a:rPr>
              <a:t>LÍMITE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2E51A48-D058-535A-FB2A-E45B3FE493CD}"/>
              </a:ext>
            </a:extLst>
          </p:cNvPr>
          <p:cNvSpPr/>
          <p:nvPr/>
        </p:nvSpPr>
        <p:spPr>
          <a:xfrm>
            <a:off x="2926080" y="1764792"/>
            <a:ext cx="2788920" cy="1234440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F327B6C-F28E-04AB-7AB2-7876334CB733}"/>
              </a:ext>
            </a:extLst>
          </p:cNvPr>
          <p:cNvSpPr/>
          <p:nvPr/>
        </p:nvSpPr>
        <p:spPr>
          <a:xfrm>
            <a:off x="3108960" y="1947672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F6A750B-B769-D8F5-D5F4-4F3CFD501D51}"/>
              </a:ext>
            </a:extLst>
          </p:cNvPr>
          <p:cNvSpPr txBox="1"/>
          <p:nvPr/>
        </p:nvSpPr>
        <p:spPr>
          <a:xfrm>
            <a:off x="3310128" y="1911096"/>
            <a:ext cx="22860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As + Rey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2F8CBA3-EAA1-D743-1220-B106DB9A4AA0}"/>
              </a:ext>
            </a:extLst>
          </p:cNvPr>
          <p:cNvSpPr txBox="1"/>
          <p:nvPr/>
        </p:nvSpPr>
        <p:spPr>
          <a:xfrm>
            <a:off x="3154680" y="2478024"/>
            <a:ext cx="2331720" cy="4114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200">
                <a:solidFill>
                  <a:srgbClr val="263B4A"/>
                </a:solidFill>
                <a:latin typeface="Aptos" panose="020B0004020202020204" pitchFamily="34" charset="0"/>
              </a:rPr>
              <a:t>21 en dos cartas: Blackjack.</a:t>
            </a:r>
            <a:endParaRPr lang="en-US" sz="12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03F554D-7E0F-19AD-235B-07EFE16276ED}"/>
              </a:ext>
            </a:extLst>
          </p:cNvPr>
          <p:cNvSpPr/>
          <p:nvPr/>
        </p:nvSpPr>
        <p:spPr>
          <a:xfrm>
            <a:off x="5961888" y="1764792"/>
            <a:ext cx="2788920" cy="123444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B3A5C96-5EBD-E2E2-0166-38B29849C835}"/>
              </a:ext>
            </a:extLst>
          </p:cNvPr>
          <p:cNvSpPr/>
          <p:nvPr/>
        </p:nvSpPr>
        <p:spPr>
          <a:xfrm>
            <a:off x="6144768" y="1947672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1A850AA-A319-F26E-1F16-80D4575941D8}"/>
              </a:ext>
            </a:extLst>
          </p:cNvPr>
          <p:cNvSpPr txBox="1"/>
          <p:nvPr/>
        </p:nvSpPr>
        <p:spPr>
          <a:xfrm>
            <a:off x="6345936" y="1911096"/>
            <a:ext cx="22860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As + 6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6B35BEF-430C-D770-353F-CA93CCED707F}"/>
              </a:ext>
            </a:extLst>
          </p:cNvPr>
          <p:cNvSpPr txBox="1"/>
          <p:nvPr/>
        </p:nvSpPr>
        <p:spPr>
          <a:xfrm>
            <a:off x="6190488" y="2478024"/>
            <a:ext cx="2331720" cy="4114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200">
                <a:solidFill>
                  <a:srgbClr val="263B4A"/>
                </a:solidFill>
                <a:latin typeface="Aptos" panose="020B0004020202020204" pitchFamily="34" charset="0"/>
              </a:rPr>
              <a:t>17: el As cuenta como 11.</a:t>
            </a:r>
            <a:endParaRPr lang="en-US" sz="12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FB15D63-831B-20B2-4943-793FA0064D15}"/>
              </a:ext>
            </a:extLst>
          </p:cNvPr>
          <p:cNvSpPr/>
          <p:nvPr/>
        </p:nvSpPr>
        <p:spPr>
          <a:xfrm>
            <a:off x="8997696" y="1764792"/>
            <a:ext cx="2468880" cy="1234440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F301E38-969A-439C-0320-D74D3E702F8B}"/>
              </a:ext>
            </a:extLst>
          </p:cNvPr>
          <p:cNvSpPr/>
          <p:nvPr/>
        </p:nvSpPr>
        <p:spPr>
          <a:xfrm>
            <a:off x="9180576" y="1947672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629D80-064B-C4D8-0D5C-0802E12FC09F}"/>
              </a:ext>
            </a:extLst>
          </p:cNvPr>
          <p:cNvSpPr txBox="1"/>
          <p:nvPr/>
        </p:nvSpPr>
        <p:spPr>
          <a:xfrm>
            <a:off x="9381744" y="1911096"/>
            <a:ext cx="196596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600" b="1">
                <a:solidFill>
                  <a:srgbClr val="152A3A"/>
                </a:solidFill>
                <a:latin typeface="Aptos" panose="020B0004020202020204" pitchFamily="34" charset="0"/>
              </a:rPr>
              <a:t>Figuras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EE3AD8A-DAA6-60FF-C4FD-9DA34443835C}"/>
              </a:ext>
            </a:extLst>
          </p:cNvPr>
          <p:cNvSpPr txBox="1"/>
          <p:nvPr/>
        </p:nvSpPr>
        <p:spPr>
          <a:xfrm>
            <a:off x="9226296" y="2478024"/>
            <a:ext cx="2011680" cy="4114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200">
                <a:solidFill>
                  <a:srgbClr val="263B4A"/>
                </a:solidFill>
                <a:latin typeface="Aptos" panose="020B0004020202020204" pitchFamily="34" charset="0"/>
              </a:rPr>
              <a:t>Valen 10 puntos.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A97264DE-C9EC-C275-D793-05784C67E22A}"/>
              </a:ext>
            </a:extLst>
          </p:cNvPr>
          <p:cNvSpPr/>
          <p:nvPr/>
        </p:nvSpPr>
        <p:spPr>
          <a:xfrm>
            <a:off x="2926080" y="3337560"/>
            <a:ext cx="5824728" cy="1344168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B3A80BED-2B3A-690A-03A4-E1364F4E3013}"/>
              </a:ext>
            </a:extLst>
          </p:cNvPr>
          <p:cNvSpPr/>
          <p:nvPr/>
        </p:nvSpPr>
        <p:spPr>
          <a:xfrm>
            <a:off x="3108960" y="3520440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BDF9547-7200-DB32-8EAF-718034AD855E}"/>
              </a:ext>
            </a:extLst>
          </p:cNvPr>
          <p:cNvSpPr txBox="1"/>
          <p:nvPr/>
        </p:nvSpPr>
        <p:spPr>
          <a:xfrm>
            <a:off x="3310128" y="3483864"/>
            <a:ext cx="5321808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As + 6 + 9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522A9AD-B3DA-59BC-B923-42CF0BD31BDE}"/>
              </a:ext>
            </a:extLst>
          </p:cNvPr>
          <p:cNvSpPr txBox="1"/>
          <p:nvPr/>
        </p:nvSpPr>
        <p:spPr>
          <a:xfrm>
            <a:off x="3154680" y="4050792"/>
            <a:ext cx="5367528" cy="5212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300">
                <a:solidFill>
                  <a:srgbClr val="263B4A"/>
                </a:solidFill>
                <a:latin typeface="Aptos" panose="020B0004020202020204" pitchFamily="34" charset="0"/>
              </a:rPr>
              <a:t>Total 16: el As cuenta como 1 para no superar 21.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40C71C0-E26E-5E60-F8C9-55DF671E4D73}"/>
              </a:ext>
            </a:extLst>
          </p:cNvPr>
          <p:cNvSpPr txBox="1"/>
          <p:nvPr/>
        </p:nvSpPr>
        <p:spPr>
          <a:xfrm>
            <a:off x="3246120" y="5166360"/>
            <a:ext cx="7955280" cy="47548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Blackjack requiere dos cartas y 21 puntos. Pasarse significa superar 21.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68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0D15726-0F18-9107-4A3C-A31B0ECD73DC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A2955C8-DCC4-EB82-B44B-B130C7042A5D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08 · PARTICIPANTES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DF6FE7-B2A7-DBA2-6F02-26E79BDAB356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Datos comunes y estado del jugador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845875-7258-8468-EB46-0F19F9796FA1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B4AEC92-FC85-3D95-1BE1-D22767F46014}"/>
              </a:ext>
            </a:extLst>
          </p:cNvPr>
          <p:cNvSpPr/>
          <p:nvPr/>
        </p:nvSpPr>
        <p:spPr>
          <a:xfrm>
            <a:off x="841248" y="1737360"/>
            <a:ext cx="5074920" cy="3611880"/>
          </a:xfrm>
          <a:prstGeom prst="roundRect">
            <a:avLst/>
          </a:prstGeom>
          <a:solidFill>
            <a:srgbClr val="D8E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6A62E12-496B-3F24-58DD-477915A81C5D}"/>
              </a:ext>
            </a:extLst>
          </p:cNvPr>
          <p:cNvSpPr/>
          <p:nvPr/>
        </p:nvSpPr>
        <p:spPr>
          <a:xfrm>
            <a:off x="1024128" y="1920240"/>
            <a:ext cx="73152" cy="365760"/>
          </a:xfrm>
          <a:prstGeom prst="roundRect">
            <a:avLst/>
          </a:prstGeom>
          <a:solidFill>
            <a:srgbClr val="6A7C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D6BF2D-237D-F1C1-1A66-C28042BB2296}"/>
              </a:ext>
            </a:extLst>
          </p:cNvPr>
          <p:cNvSpPr txBox="1"/>
          <p:nvPr/>
        </p:nvSpPr>
        <p:spPr>
          <a:xfrm>
            <a:off x="1225296" y="1883664"/>
            <a:ext cx="45720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100" b="1">
                <a:solidFill>
                  <a:srgbClr val="152A3A"/>
                </a:solidFill>
                <a:latin typeface="Aptos" panose="020B0004020202020204" pitchFamily="34" charset="0"/>
              </a:rPr>
              <a:t>Participante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0301524-41A2-7CCE-30C8-7ADEEE64B02B}"/>
              </a:ext>
            </a:extLst>
          </p:cNvPr>
          <p:cNvSpPr txBox="1"/>
          <p:nvPr/>
        </p:nvSpPr>
        <p:spPr>
          <a:xfrm>
            <a:off x="1069848" y="2450592"/>
            <a:ext cx="4617720" cy="2788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Mantiene nombre y mano.</a:t>
            </a:r>
          </a:p>
          <a:p>
            <a:endParaRPr lang="es-ES" sz="15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Recibe y limpia cartas; consulta puntos, Blackjack, 21 o exceso.</a:t>
            </a:r>
            <a:endParaRPr lang="en-US" sz="15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040CC8B-B405-6F33-E136-A735E4AA3431}"/>
              </a:ext>
            </a:extLst>
          </p:cNvPr>
          <p:cNvSpPr/>
          <p:nvPr/>
        </p:nvSpPr>
        <p:spPr>
          <a:xfrm>
            <a:off x="6245352" y="1737360"/>
            <a:ext cx="5074920" cy="361188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6DC7D5B-878F-4F01-2197-459F7A9D6461}"/>
              </a:ext>
            </a:extLst>
          </p:cNvPr>
          <p:cNvSpPr/>
          <p:nvPr/>
        </p:nvSpPr>
        <p:spPr>
          <a:xfrm>
            <a:off x="6428232" y="192024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4E2F127-68A9-3560-F883-6C617E29B294}"/>
              </a:ext>
            </a:extLst>
          </p:cNvPr>
          <p:cNvSpPr txBox="1"/>
          <p:nvPr/>
        </p:nvSpPr>
        <p:spPr>
          <a:xfrm>
            <a:off x="6629400" y="1883664"/>
            <a:ext cx="45720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100" b="1">
                <a:solidFill>
                  <a:srgbClr val="152A3A"/>
                </a:solidFill>
                <a:latin typeface="Aptos" panose="020B0004020202020204" pitchFamily="34" charset="0"/>
              </a:rPr>
              <a:t>Jugador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A3F8C09-993F-5455-FE9B-55A3F3C5A5C4}"/>
              </a:ext>
            </a:extLst>
          </p:cNvPr>
          <p:cNvSpPr txBox="1"/>
          <p:nvPr/>
        </p:nvSpPr>
        <p:spPr>
          <a:xfrm>
            <a:off x="6473952" y="2450592"/>
            <a:ext cx="4617720" cy="27889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Añade saldo, apuesta y estado de turno.</a:t>
            </a:r>
          </a:p>
          <a:p>
            <a:endParaRPr lang="es-ES" sz="15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Puede plantarse, liquidar la apuesta, comprobar el mínimo o retirarse.</a:t>
            </a:r>
            <a:endParaRPr lang="en-US" sz="15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7C0BF9-C4BC-9B3F-F5A5-E1C376EC4D5A}"/>
              </a:ext>
            </a:extLst>
          </p:cNvPr>
          <p:cNvSpPr txBox="1"/>
          <p:nvPr/>
        </p:nvSpPr>
        <p:spPr>
          <a:xfrm>
            <a:off x="1143000" y="5596128"/>
            <a:ext cx="9784080" cy="32004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Croupier también hereda de Participante; Blackjack coordina sus reglas comunes para ambas versiones.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079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0DE379E-DC63-C57F-0DAC-404F8B4BD121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556C6-7299-3E85-BDD6-E2B67BC65CA7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09 · APUESTAS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BCD00E-1742-A5F3-0E98-79F14463EA58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500" b="1">
                <a:solidFill>
                  <a:srgbClr val="152A3A"/>
                </a:solidFill>
                <a:latin typeface="Aptos" panose="020B0004020202020204" pitchFamily="34" charset="0"/>
              </a:rPr>
              <a:t>El saldo cambia al liquidar la ronda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C566CC-B81A-6840-9B1B-D00A57506BF9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F34D879-3655-0685-75DF-6A922B0C5B46}"/>
              </a:ext>
            </a:extLst>
          </p:cNvPr>
          <p:cNvSpPr/>
          <p:nvPr/>
        </p:nvSpPr>
        <p:spPr>
          <a:xfrm>
            <a:off x="841248" y="1901952"/>
            <a:ext cx="4343400" cy="3456432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E29C5C1-1F78-9A53-58CF-08FAC64AC92C}"/>
              </a:ext>
            </a:extLst>
          </p:cNvPr>
          <p:cNvSpPr txBox="1"/>
          <p:nvPr/>
        </p:nvSpPr>
        <p:spPr>
          <a:xfrm>
            <a:off x="1234440" y="2212848"/>
            <a:ext cx="3566160" cy="38404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168A88"/>
                </a:solidFill>
                <a:latin typeface="Aptos" panose="020B0004020202020204" pitchFamily="34" charset="0"/>
              </a:rPr>
              <a:t>SALDO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5114FE-4E39-644E-A021-B461E7A7913D}"/>
              </a:ext>
            </a:extLst>
          </p:cNvPr>
          <p:cNvSpPr txBox="1"/>
          <p:nvPr/>
        </p:nvSpPr>
        <p:spPr>
          <a:xfrm>
            <a:off x="1188720" y="2779776"/>
            <a:ext cx="3657600" cy="54864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300" b="1">
                <a:solidFill>
                  <a:srgbClr val="152A3A"/>
                </a:solidFill>
                <a:latin typeface="Aptos" panose="020B0004020202020204" pitchFamily="34" charset="0"/>
              </a:rPr>
              <a:t>Dinero disponible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BC964A5-D62B-F3A4-6C6C-B8A8F8DB9594}"/>
              </a:ext>
            </a:extLst>
          </p:cNvPr>
          <p:cNvSpPr txBox="1"/>
          <p:nvPr/>
        </p:nvSpPr>
        <p:spPr>
          <a:xfrm>
            <a:off x="1234440" y="3547872"/>
            <a:ext cx="3566160" cy="7863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La apuesta se registra,</a:t>
            </a:r>
          </a:p>
          <a:p>
            <a:pPr algn="ctr"/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pero no se descuenta todavía.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FD8DB71-BF26-A44C-4DED-5AC16B42B956}"/>
              </a:ext>
            </a:extLst>
          </p:cNvPr>
          <p:cNvSpPr/>
          <p:nvPr/>
        </p:nvSpPr>
        <p:spPr>
          <a:xfrm>
            <a:off x="5577840" y="1755648"/>
            <a:ext cx="1883664" cy="3502152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25BC773-D4C7-4C29-2E91-387CDBE69472}"/>
              </a:ext>
            </a:extLst>
          </p:cNvPr>
          <p:cNvSpPr/>
          <p:nvPr/>
        </p:nvSpPr>
        <p:spPr>
          <a:xfrm>
            <a:off x="5760720" y="1938528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73295F6-354C-270A-C9AB-312C29C873EA}"/>
              </a:ext>
            </a:extLst>
          </p:cNvPr>
          <p:cNvSpPr txBox="1"/>
          <p:nvPr/>
        </p:nvSpPr>
        <p:spPr>
          <a:xfrm>
            <a:off x="5961888" y="1901952"/>
            <a:ext cx="1380744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Gana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8A2FDB-DD78-B5DE-2D24-CE8C930FA145}"/>
              </a:ext>
            </a:extLst>
          </p:cNvPr>
          <p:cNvSpPr txBox="1"/>
          <p:nvPr/>
        </p:nvSpPr>
        <p:spPr>
          <a:xfrm>
            <a:off x="5806440" y="2468880"/>
            <a:ext cx="1426464" cy="267919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300">
                <a:solidFill>
                  <a:srgbClr val="263B4A"/>
                </a:solidFill>
                <a:latin typeface="Aptos" panose="020B0004020202020204" pitchFamily="34" charset="0"/>
              </a:rPr>
              <a:t>Suma la ganancia.</a:t>
            </a:r>
          </a:p>
          <a:p>
            <a:endParaRPr lang="es-ES" sz="13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300">
                <a:solidFill>
                  <a:srgbClr val="263B4A"/>
                </a:solidFill>
                <a:latin typeface="Aptos" panose="020B0004020202020204" pitchFamily="34" charset="0"/>
              </a:rPr>
              <a:t>Blackjack paga 3:2.</a:t>
            </a:r>
            <a:endParaRPr lang="en-US" sz="13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C595D0D-4804-0025-5B80-1C49C7F0437C}"/>
              </a:ext>
            </a:extLst>
          </p:cNvPr>
          <p:cNvSpPr/>
          <p:nvPr/>
        </p:nvSpPr>
        <p:spPr>
          <a:xfrm>
            <a:off x="7708392" y="1755648"/>
            <a:ext cx="1883664" cy="3502152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2C8168F-BA9B-8AC1-E4FB-D85C6E0A659D}"/>
              </a:ext>
            </a:extLst>
          </p:cNvPr>
          <p:cNvSpPr/>
          <p:nvPr/>
        </p:nvSpPr>
        <p:spPr>
          <a:xfrm>
            <a:off x="7891272" y="1938528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9EB5C1-494E-B506-2633-91575ED7314B}"/>
              </a:ext>
            </a:extLst>
          </p:cNvPr>
          <p:cNvSpPr txBox="1"/>
          <p:nvPr/>
        </p:nvSpPr>
        <p:spPr>
          <a:xfrm>
            <a:off x="8092440" y="1901952"/>
            <a:ext cx="1380744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Pierde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D8D051E-1A77-1102-CA58-4DAD78B5E4BD}"/>
              </a:ext>
            </a:extLst>
          </p:cNvPr>
          <p:cNvSpPr txBox="1"/>
          <p:nvPr/>
        </p:nvSpPr>
        <p:spPr>
          <a:xfrm>
            <a:off x="7936992" y="2468880"/>
            <a:ext cx="1426464" cy="267919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300">
                <a:solidFill>
                  <a:srgbClr val="263B4A"/>
                </a:solidFill>
                <a:latin typeface="Aptos" panose="020B0004020202020204" pitchFamily="34" charset="0"/>
              </a:rPr>
              <a:t>Resta el importe de la apuesta.</a:t>
            </a:r>
            <a:endParaRPr lang="en-US" sz="13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3E1B17C-8464-56EA-D040-6C83C0769AB8}"/>
              </a:ext>
            </a:extLst>
          </p:cNvPr>
          <p:cNvSpPr/>
          <p:nvPr/>
        </p:nvSpPr>
        <p:spPr>
          <a:xfrm>
            <a:off x="9838944" y="1755648"/>
            <a:ext cx="1883664" cy="3502152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817721E8-36C9-BA19-FF5B-6DA6E3309A85}"/>
              </a:ext>
            </a:extLst>
          </p:cNvPr>
          <p:cNvSpPr/>
          <p:nvPr/>
        </p:nvSpPr>
        <p:spPr>
          <a:xfrm>
            <a:off x="10021824" y="1938528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824C57-C078-486A-EEC0-005802E02CAC}"/>
              </a:ext>
            </a:extLst>
          </p:cNvPr>
          <p:cNvSpPr txBox="1"/>
          <p:nvPr/>
        </p:nvSpPr>
        <p:spPr>
          <a:xfrm>
            <a:off x="10222992" y="1901952"/>
            <a:ext cx="1380744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Empata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335EBB0-66CB-3ED4-D5F2-BBCEBA3A1843}"/>
              </a:ext>
            </a:extLst>
          </p:cNvPr>
          <p:cNvSpPr txBox="1"/>
          <p:nvPr/>
        </p:nvSpPr>
        <p:spPr>
          <a:xfrm>
            <a:off x="10067544" y="2468880"/>
            <a:ext cx="1426464" cy="267919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300">
                <a:solidFill>
                  <a:srgbClr val="263B4A"/>
                </a:solidFill>
                <a:latin typeface="Aptos" panose="020B0004020202020204" pitchFamily="34" charset="0"/>
              </a:rPr>
              <a:t>Limpia la apuesta; el saldo no cambia.</a:t>
            </a:r>
            <a:endParaRPr lang="en-US" sz="13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EC4E81D-86F7-DF62-C148-225879EF6A8E}"/>
              </a:ext>
            </a:extLst>
          </p:cNvPr>
          <p:cNvSpPr txBox="1"/>
          <p:nvPr/>
        </p:nvSpPr>
        <p:spPr>
          <a:xfrm>
            <a:off x="1188720" y="5596128"/>
            <a:ext cx="9784080" cy="32004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El pago 3:2 usa división entera; una apuesta impar no produce fracciones.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710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D41C6AA-26CB-6440-0FFD-2EA84628C0F0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FAB641-D752-26A8-A3E0-7151B7496DFC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10 · CROUPIER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BFA12E-073F-0B83-07FD-A6E56E7322A0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500" b="1">
                <a:solidFill>
                  <a:srgbClr val="152A3A"/>
                </a:solidFill>
                <a:latin typeface="Aptos" panose="020B0004020202020204" pitchFamily="34" charset="0"/>
              </a:rPr>
              <a:t>Reparto y carta oculta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461CF85-FCB9-18FA-97CD-8C2AB3FA4702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BD4D4C3-20C2-2FB2-0557-0D8418B4E630}"/>
              </a:ext>
            </a:extLst>
          </p:cNvPr>
          <p:cNvSpPr/>
          <p:nvPr/>
        </p:nvSpPr>
        <p:spPr>
          <a:xfrm>
            <a:off x="640080" y="1783080"/>
            <a:ext cx="6583681" cy="3383280"/>
          </a:xfrm>
          <a:prstGeom prst="ellipse">
            <a:avLst/>
          </a:prstGeom>
          <a:solidFill>
            <a:srgbClr val="1E6B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7649D68-95B6-2169-D5AF-666FC34AA425}"/>
              </a:ext>
            </a:extLst>
          </p:cNvPr>
          <p:cNvSpPr/>
          <p:nvPr/>
        </p:nvSpPr>
        <p:spPr>
          <a:xfrm>
            <a:off x="1554480" y="2286000"/>
            <a:ext cx="1508760" cy="2103120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6E11D3-E522-FC20-222D-4389ECD6D59C}"/>
              </a:ext>
            </a:extLst>
          </p:cNvPr>
          <p:cNvSpPr txBox="1"/>
          <p:nvPr/>
        </p:nvSpPr>
        <p:spPr>
          <a:xfrm>
            <a:off x="1691640" y="2816352"/>
            <a:ext cx="1234440" cy="8686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A♥</a:t>
            </a:r>
          </a:p>
          <a:p>
            <a:pPr algn="ctr"/>
            <a:r>
              <a:rPr lang="en-US" sz="1700" b="1">
                <a:solidFill>
                  <a:srgbClr val="152A3A"/>
                </a:solidFill>
                <a:latin typeface="Aptos" panose="020B0004020202020204" pitchFamily="34" charset="0"/>
              </a:rPr>
              <a:t>VISIBLE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41A3212-0F48-B2D6-FE7B-42F075B7A143}"/>
              </a:ext>
            </a:extLst>
          </p:cNvPr>
          <p:cNvSpPr/>
          <p:nvPr/>
        </p:nvSpPr>
        <p:spPr>
          <a:xfrm>
            <a:off x="3337560" y="2286000"/>
            <a:ext cx="1508760" cy="2103120"/>
          </a:xfrm>
          <a:prstGeom prst="roundRect">
            <a:avLst/>
          </a:prstGeom>
          <a:solidFill>
            <a:srgbClr val="15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D68B37D-F8CE-514D-16FC-7BBB43AB4D3E}"/>
              </a:ext>
            </a:extLst>
          </p:cNvPr>
          <p:cNvSpPr txBox="1"/>
          <p:nvPr/>
        </p:nvSpPr>
        <p:spPr>
          <a:xfrm>
            <a:off x="3483864" y="2990088"/>
            <a:ext cx="1234440" cy="51206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81D1C7"/>
                </a:solidFill>
                <a:latin typeface="Aptos" panose="020B0004020202020204" pitchFamily="34" charset="0"/>
              </a:rPr>
              <a:t>OCULTA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770899-49CC-2920-419B-DAE1EA6EF378}"/>
              </a:ext>
            </a:extLst>
          </p:cNvPr>
          <p:cNvSpPr txBox="1"/>
          <p:nvPr/>
        </p:nvSpPr>
        <p:spPr>
          <a:xfrm>
            <a:off x="1828800" y="4645152"/>
            <a:ext cx="3657600" cy="25603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1100" b="1">
                <a:solidFill>
                  <a:srgbClr val="FFF9EE"/>
                </a:solidFill>
                <a:latin typeface="Aptos" panose="020B0004020202020204" pitchFamily="34" charset="0"/>
              </a:rPr>
              <a:t>DOS CARTAS INICIALES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DDA85A9-BDFD-ABC5-511C-1B6603E664FC}"/>
              </a:ext>
            </a:extLst>
          </p:cNvPr>
          <p:cNvSpPr/>
          <p:nvPr/>
        </p:nvSpPr>
        <p:spPr>
          <a:xfrm>
            <a:off x="6931152" y="1737360"/>
            <a:ext cx="4023360" cy="3520440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B5C0FC0-A8CD-4A7B-9845-048E25051CE7}"/>
              </a:ext>
            </a:extLst>
          </p:cNvPr>
          <p:cNvSpPr/>
          <p:nvPr/>
        </p:nvSpPr>
        <p:spPr>
          <a:xfrm>
            <a:off x="7114032" y="192024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5E33C15-0681-A7B3-6FB1-5D2C172A971C}"/>
              </a:ext>
            </a:extLst>
          </p:cNvPr>
          <p:cNvSpPr txBox="1"/>
          <p:nvPr/>
        </p:nvSpPr>
        <p:spPr>
          <a:xfrm>
            <a:off x="7315200" y="1883664"/>
            <a:ext cx="352044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900" b="1">
                <a:solidFill>
                  <a:srgbClr val="152A3A"/>
                </a:solidFill>
                <a:latin typeface="Aptos" panose="020B0004020202020204" pitchFamily="34" charset="0"/>
              </a:rPr>
              <a:t>Responsabilidades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7CE7C44-EDB4-80DF-E56A-74E9180234A4}"/>
              </a:ext>
            </a:extLst>
          </p:cNvPr>
          <p:cNvSpPr txBox="1"/>
          <p:nvPr/>
        </p:nvSpPr>
        <p:spPr>
          <a:xfrm>
            <a:off x="7159752" y="2450592"/>
            <a:ext cx="3566160" cy="26974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Preparar y cortar el mazo.</a:t>
            </a:r>
          </a:p>
          <a:p>
            <a:endParaRPr lang="es-ES" sz="14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Repartir y revelar la segunda carta.</a:t>
            </a:r>
          </a:p>
          <a:p>
            <a:endParaRPr lang="es-ES" sz="14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Pedir según la estrategia.</a:t>
            </a:r>
          </a:p>
          <a:p>
            <a:endParaRPr lang="es-ES" sz="14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Validar apuestas y liquidar resultados.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452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FA66099-EB8C-F233-0E92-89DCF09B2860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581DE7-D196-905B-E054-AE11B97907DD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11 · ESTRATEGIA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7CDF312-B0E1-1474-ABE5-1FC64408756F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El croupier pide con 16; se planta con 17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B33314-A40C-0C00-13C8-D00CD4ED79E0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E6782DE-3C7C-780A-2204-C90E65D02911}"/>
              </a:ext>
            </a:extLst>
          </p:cNvPr>
          <p:cNvSpPr/>
          <p:nvPr/>
        </p:nvSpPr>
        <p:spPr>
          <a:xfrm>
            <a:off x="914400" y="1828800"/>
            <a:ext cx="4114800" cy="2697480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92F6CC9-C948-754A-D1B4-1ECC9B56D405}"/>
              </a:ext>
            </a:extLst>
          </p:cNvPr>
          <p:cNvSpPr/>
          <p:nvPr/>
        </p:nvSpPr>
        <p:spPr>
          <a:xfrm>
            <a:off x="1097280" y="2011680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B8687A-48D7-C2E9-2F0E-A7FDBF35834A}"/>
              </a:ext>
            </a:extLst>
          </p:cNvPr>
          <p:cNvSpPr txBox="1"/>
          <p:nvPr/>
        </p:nvSpPr>
        <p:spPr>
          <a:xfrm>
            <a:off x="1298448" y="1975104"/>
            <a:ext cx="36118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400" b="1">
                <a:solidFill>
                  <a:srgbClr val="152A3A"/>
                </a:solidFill>
                <a:latin typeface="Aptos" panose="020B0004020202020204" pitchFamily="34" charset="0"/>
              </a:rPr>
              <a:t>PIDE CARTA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DA69773-4835-BF6C-0257-618AB4D38919}"/>
              </a:ext>
            </a:extLst>
          </p:cNvPr>
          <p:cNvSpPr txBox="1"/>
          <p:nvPr/>
        </p:nvSpPr>
        <p:spPr>
          <a:xfrm>
            <a:off x="1143000" y="2542032"/>
            <a:ext cx="3657600" cy="18745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900">
                <a:solidFill>
                  <a:srgbClr val="263B4A"/>
                </a:solidFill>
                <a:latin typeface="Aptos" panose="020B0004020202020204" pitchFamily="34" charset="0"/>
              </a:rPr>
              <a:t>Total de 0 a 16.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15B1A15-12FC-0CB5-A8A1-17513DE67482}"/>
              </a:ext>
            </a:extLst>
          </p:cNvPr>
          <p:cNvSpPr/>
          <p:nvPr/>
        </p:nvSpPr>
        <p:spPr>
          <a:xfrm>
            <a:off x="5321808" y="2377440"/>
            <a:ext cx="2926080" cy="1188720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23A62-BD0E-81EB-1FE0-39928018547C}"/>
              </a:ext>
            </a:extLst>
          </p:cNvPr>
          <p:cNvSpPr txBox="1"/>
          <p:nvPr/>
        </p:nvSpPr>
        <p:spPr>
          <a:xfrm>
            <a:off x="5422392" y="2734056"/>
            <a:ext cx="1005840" cy="51206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700" b="1">
                <a:solidFill>
                  <a:srgbClr val="152A3A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901BFE5-97B3-B0B3-18E3-DD8CC0CA0247}"/>
              </a:ext>
            </a:extLst>
          </p:cNvPr>
          <p:cNvSpPr/>
          <p:nvPr/>
        </p:nvSpPr>
        <p:spPr>
          <a:xfrm>
            <a:off x="6812280" y="1828800"/>
            <a:ext cx="4114800" cy="269748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F1D6991-CF3B-BC4F-3A52-FFC2F91FA5AE}"/>
              </a:ext>
            </a:extLst>
          </p:cNvPr>
          <p:cNvSpPr/>
          <p:nvPr/>
        </p:nvSpPr>
        <p:spPr>
          <a:xfrm>
            <a:off x="6995160" y="201168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CABC02-8FC1-BBC5-65F9-13D6331F6146}"/>
              </a:ext>
            </a:extLst>
          </p:cNvPr>
          <p:cNvSpPr txBox="1"/>
          <p:nvPr/>
        </p:nvSpPr>
        <p:spPr>
          <a:xfrm>
            <a:off x="7196328" y="1975104"/>
            <a:ext cx="36118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400" b="1">
                <a:solidFill>
                  <a:srgbClr val="152A3A"/>
                </a:solidFill>
                <a:latin typeface="Aptos" panose="020B0004020202020204" pitchFamily="34" charset="0"/>
              </a:rPr>
              <a:t>SE PLANTA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244F4C5-C37A-0F9A-ED1F-88FABB1516EF}"/>
              </a:ext>
            </a:extLst>
          </p:cNvPr>
          <p:cNvSpPr txBox="1"/>
          <p:nvPr/>
        </p:nvSpPr>
        <p:spPr>
          <a:xfrm>
            <a:off x="7040880" y="2542032"/>
            <a:ext cx="3657600" cy="187452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900">
                <a:solidFill>
                  <a:srgbClr val="263B4A"/>
                </a:solidFill>
                <a:latin typeface="Aptos" panose="020B0004020202020204" pitchFamily="34" charset="0"/>
              </a:rPr>
              <a:t>Total de 17 o más.</a:t>
            </a:r>
            <a:endParaRPr lang="en-US" sz="19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5E64E9A-1D5D-C2DC-B65C-AA92063F6C13}"/>
              </a:ext>
            </a:extLst>
          </p:cNvPr>
          <p:cNvSpPr txBox="1"/>
          <p:nvPr/>
        </p:nvSpPr>
        <p:spPr>
          <a:xfrm>
            <a:off x="1874520" y="5084064"/>
            <a:ext cx="8412480" cy="4114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300">
                <a:solidFill>
                  <a:srgbClr val="647584"/>
                </a:solidFill>
                <a:latin typeface="Aptos" panose="020B0004020202020204" pitchFamily="34" charset="0"/>
              </a:rPr>
              <a:t>La estrategia consulta el total; no separa 17 suave de 17 duro.</a:t>
            </a:r>
            <a:endParaRPr lang="en-US" sz="13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355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F0F42F0-C5DC-1C76-D011-C27133C5F990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21924D-B767-5210-5181-649177FFD898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12 · CONSOLA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2CC98B-2851-A74E-C423-CEEDA9CD0893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Entrada validada y estado visible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B3B5545-3927-F708-D86D-FA515854246F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B92DBFE-ACC4-1473-1C4C-F3CF36B01D05}"/>
              </a:ext>
            </a:extLst>
          </p:cNvPr>
          <p:cNvSpPr/>
          <p:nvPr/>
        </p:nvSpPr>
        <p:spPr>
          <a:xfrm>
            <a:off x="777240" y="1371600"/>
            <a:ext cx="5943600" cy="3657600"/>
          </a:xfrm>
          <a:prstGeom prst="roundRect">
            <a:avLst/>
          </a:prstGeom>
          <a:solidFill>
            <a:srgbClr val="152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BBDEF2F-E405-9A8A-867B-B4E3E356D59B}"/>
              </a:ext>
            </a:extLst>
          </p:cNvPr>
          <p:cNvSpPr/>
          <p:nvPr/>
        </p:nvSpPr>
        <p:spPr>
          <a:xfrm>
            <a:off x="5532120" y="1481328"/>
            <a:ext cx="128016" cy="128016"/>
          </a:xfrm>
          <a:prstGeom prst="ellipse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B124DF8-AA96-65BF-33EB-A77F820252F7}"/>
              </a:ext>
            </a:extLst>
          </p:cNvPr>
          <p:cNvSpPr/>
          <p:nvPr/>
        </p:nvSpPr>
        <p:spPr>
          <a:xfrm>
            <a:off x="5751576" y="1481328"/>
            <a:ext cx="128016" cy="128016"/>
          </a:xfrm>
          <a:prstGeom prst="ellipse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7018564-CDF6-E1AA-1BA5-97F2A0E68C7C}"/>
              </a:ext>
            </a:extLst>
          </p:cNvPr>
          <p:cNvSpPr/>
          <p:nvPr/>
        </p:nvSpPr>
        <p:spPr>
          <a:xfrm>
            <a:off x="5971032" y="1481328"/>
            <a:ext cx="128016" cy="128016"/>
          </a:xfrm>
          <a:prstGeom prst="ellipse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3E221FC-1D8E-FC13-C36A-E14AC9FCD564}"/>
              </a:ext>
            </a:extLst>
          </p:cNvPr>
          <p:cNvSpPr txBox="1"/>
          <p:nvPr/>
        </p:nvSpPr>
        <p:spPr>
          <a:xfrm>
            <a:off x="1133856" y="1481328"/>
            <a:ext cx="5212080" cy="34747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500" b="1">
                <a:solidFill>
                  <a:srgbClr val="81D1C7"/>
                </a:solidFill>
                <a:latin typeface="Aptos" panose="020B0004020202020204" pitchFamily="34" charset="0"/>
              </a:rPr>
              <a:t>RONDA 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A57A18-5B50-91CD-140B-795B23E122F8}"/>
              </a:ext>
            </a:extLst>
          </p:cNvPr>
          <p:cNvSpPr txBox="1"/>
          <p:nvPr/>
        </p:nvSpPr>
        <p:spPr>
          <a:xfrm>
            <a:off x="1143000" y="2103120"/>
            <a:ext cx="5212080" cy="3657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 dirty="0">
                <a:solidFill>
                  <a:srgbClr val="FFF9EE"/>
                </a:solidFill>
                <a:latin typeface="Aptos" panose="020B0004020202020204" pitchFamily="34" charset="0"/>
              </a:rPr>
              <a:t>Lucía: 18 puntos  |  apuesta $20</a:t>
            </a:r>
            <a:endParaRPr lang="en-US" sz="1400" dirty="0">
              <a:solidFill>
                <a:srgbClr val="FFF9EE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2BD9FE-929A-D67F-1122-BEFBC7FCDDD0}"/>
              </a:ext>
            </a:extLst>
          </p:cNvPr>
          <p:cNvSpPr txBox="1"/>
          <p:nvPr/>
        </p:nvSpPr>
        <p:spPr>
          <a:xfrm>
            <a:off x="1143000" y="2651760"/>
            <a:ext cx="5212080" cy="3657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400">
                <a:solidFill>
                  <a:srgbClr val="FFF9EE"/>
                </a:solidFill>
                <a:latin typeface="Aptos" panose="020B0004020202020204" pitchFamily="34" charset="0"/>
              </a:rPr>
              <a:t>Croupier: A♥  |  carta oculta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A785F56-0D93-541F-2417-59025B745E7D}"/>
              </a:ext>
            </a:extLst>
          </p:cNvPr>
          <p:cNvSpPr txBox="1"/>
          <p:nvPr/>
        </p:nvSpPr>
        <p:spPr>
          <a:xfrm>
            <a:off x="1143000" y="3529584"/>
            <a:ext cx="5212080" cy="38404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pt-BR" sz="1500" b="1">
                <a:solidFill>
                  <a:srgbClr val="F4DFAF"/>
                </a:solidFill>
                <a:latin typeface="Aptos" panose="020B0004020202020204" pitchFamily="34" charset="0"/>
              </a:rPr>
              <a:t>¿Pedir otra carta? (s/n)</a:t>
            </a:r>
            <a:endParaRPr lang="en-US" sz="1500" b="1">
              <a:solidFill>
                <a:srgbClr val="F4DFAF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8ED0704-E296-F547-416B-FE0D47DDBA3D}"/>
              </a:ext>
            </a:extLst>
          </p:cNvPr>
          <p:cNvSpPr/>
          <p:nvPr/>
        </p:nvSpPr>
        <p:spPr>
          <a:xfrm>
            <a:off x="7178040" y="1554480"/>
            <a:ext cx="3886200" cy="150876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B9322AE6-493E-C6FB-A66D-C69AF99715CF}"/>
              </a:ext>
            </a:extLst>
          </p:cNvPr>
          <p:cNvSpPr/>
          <p:nvPr/>
        </p:nvSpPr>
        <p:spPr>
          <a:xfrm>
            <a:off x="7360920" y="173736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669E3DD-56A1-04B6-F697-523AF89F9801}"/>
              </a:ext>
            </a:extLst>
          </p:cNvPr>
          <p:cNvSpPr txBox="1"/>
          <p:nvPr/>
        </p:nvSpPr>
        <p:spPr>
          <a:xfrm>
            <a:off x="7562088" y="1700784"/>
            <a:ext cx="33832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b="1">
                <a:solidFill>
                  <a:srgbClr val="152A3A"/>
                </a:solidFill>
                <a:latin typeface="Aptos" panose="020B0004020202020204" pitchFamily="34" charset="0"/>
              </a:rPr>
              <a:t>ConsolaBlackjack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5B62DD9-CD8B-71E4-323D-C8E93510F8C1}"/>
              </a:ext>
            </a:extLst>
          </p:cNvPr>
          <p:cNvSpPr txBox="1"/>
          <p:nvPr/>
        </p:nvSpPr>
        <p:spPr>
          <a:xfrm>
            <a:off x="7406640" y="2267712"/>
            <a:ext cx="3429000" cy="6858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300">
                <a:solidFill>
                  <a:srgbClr val="263B4A"/>
                </a:solidFill>
                <a:latin typeface="Aptos" panose="020B0004020202020204" pitchFamily="34" charset="0"/>
              </a:rPr>
              <a:t>Solicita datos, valida rangos y presenta la mesa.</a:t>
            </a:r>
            <a:endParaRPr lang="en-US" sz="13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5AEAB69-F338-F84E-1504-2928D81639C3}"/>
              </a:ext>
            </a:extLst>
          </p:cNvPr>
          <p:cNvSpPr/>
          <p:nvPr/>
        </p:nvSpPr>
        <p:spPr>
          <a:xfrm>
            <a:off x="7178040" y="3456432"/>
            <a:ext cx="3886200" cy="1508760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BCB2E0A-C235-D330-9A43-8DB34CF083A9}"/>
              </a:ext>
            </a:extLst>
          </p:cNvPr>
          <p:cNvSpPr/>
          <p:nvPr/>
        </p:nvSpPr>
        <p:spPr>
          <a:xfrm>
            <a:off x="7360920" y="3639312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2256CEA-87B6-537B-8C1C-256F9F6C4F28}"/>
              </a:ext>
            </a:extLst>
          </p:cNvPr>
          <p:cNvSpPr txBox="1"/>
          <p:nvPr/>
        </p:nvSpPr>
        <p:spPr>
          <a:xfrm>
            <a:off x="7562088" y="3602736"/>
            <a:ext cx="33832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b="1">
                <a:solidFill>
                  <a:srgbClr val="152A3A"/>
                </a:solidFill>
                <a:latin typeface="Aptos" panose="020B0004020202020204" pitchFamily="34" charset="0"/>
              </a:rPr>
              <a:t>Keyboard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00172E5-47F3-B64D-4154-325CD1AB644D}"/>
              </a:ext>
            </a:extLst>
          </p:cNvPr>
          <p:cNvSpPr txBox="1"/>
          <p:nvPr/>
        </p:nvSpPr>
        <p:spPr>
          <a:xfrm>
            <a:off x="7406640" y="4169664"/>
            <a:ext cx="3429000" cy="6858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300">
                <a:solidFill>
                  <a:srgbClr val="263B4A"/>
                </a:solidFill>
                <a:latin typeface="Aptos" panose="020B0004020202020204" pitchFamily="34" charset="0"/>
              </a:rPr>
              <a:t>Lee texto y números desde el teclado.</a:t>
            </a:r>
            <a:endParaRPr lang="en-US" sz="13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3F63949-5BA4-874C-8949-EE601807D7F5}"/>
              </a:ext>
            </a:extLst>
          </p:cNvPr>
          <p:cNvSpPr txBox="1"/>
          <p:nvPr/>
        </p:nvSpPr>
        <p:spPr>
          <a:xfrm>
            <a:off x="7223760" y="5257800"/>
            <a:ext cx="379476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El pago lo calculan el croupier y el jugador.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183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1C18307-29F2-507E-EEDB-D6C7D4AF1B3E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595CB2-65B4-2199-6A15-6A58633FFCC4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13 · PREPARACIÓN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9001E7-1990-0417-7FF2-18F2412C6161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Cuatro operaciones antes del reparto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872F52-DEC8-AFFF-9FC0-C67F8CDE5AEE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B5B81FC-96EA-6204-378A-EE68453120E5}"/>
              </a:ext>
            </a:extLst>
          </p:cNvPr>
          <p:cNvSpPr/>
          <p:nvPr/>
        </p:nvSpPr>
        <p:spPr>
          <a:xfrm>
            <a:off x="685800" y="1828800"/>
            <a:ext cx="2148840" cy="324612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6532DFA-E3E9-C1F9-E7DD-CC4BB5C0C19E}"/>
              </a:ext>
            </a:extLst>
          </p:cNvPr>
          <p:cNvSpPr/>
          <p:nvPr/>
        </p:nvSpPr>
        <p:spPr>
          <a:xfrm>
            <a:off x="868680" y="201168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DB37DF3-9548-5F3D-A74F-064BAB74054B}"/>
              </a:ext>
            </a:extLst>
          </p:cNvPr>
          <p:cNvSpPr txBox="1"/>
          <p:nvPr/>
        </p:nvSpPr>
        <p:spPr>
          <a:xfrm>
            <a:off x="1069848" y="1975104"/>
            <a:ext cx="164592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500" b="1">
                <a:solidFill>
                  <a:srgbClr val="152A3A"/>
                </a:solidFill>
                <a:latin typeface="Aptos" panose="020B0004020202020204" pitchFamily="34" charset="0"/>
              </a:rPr>
              <a:t>01 · Registrar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9F836A4-780A-FB9C-6777-CC81D8C086D5}"/>
              </a:ext>
            </a:extLst>
          </p:cNvPr>
          <p:cNvSpPr txBox="1"/>
          <p:nvPr/>
        </p:nvSpPr>
        <p:spPr>
          <a:xfrm>
            <a:off x="914400" y="2542032"/>
            <a:ext cx="1691640" cy="24231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200">
                <a:solidFill>
                  <a:srgbClr val="263B4A"/>
                </a:solidFill>
                <a:latin typeface="Aptos" panose="020B0004020202020204" pitchFamily="34" charset="0"/>
              </a:rPr>
              <a:t>Nombre único; saldo suficiente para el mínimo.</a:t>
            </a:r>
            <a:endParaRPr lang="en-US" sz="12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5FE55FD-7203-F636-8AC0-17A0BB5149D6}"/>
              </a:ext>
            </a:extLst>
          </p:cNvPr>
          <p:cNvSpPr/>
          <p:nvPr/>
        </p:nvSpPr>
        <p:spPr>
          <a:xfrm>
            <a:off x="3584448" y="1828800"/>
            <a:ext cx="2148840" cy="3246120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3614317-DC38-9A37-EA19-F39F68851B86}"/>
              </a:ext>
            </a:extLst>
          </p:cNvPr>
          <p:cNvSpPr/>
          <p:nvPr/>
        </p:nvSpPr>
        <p:spPr>
          <a:xfrm>
            <a:off x="3767328" y="2011680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6CB4069-679F-3265-E753-FF623248976E}"/>
              </a:ext>
            </a:extLst>
          </p:cNvPr>
          <p:cNvSpPr txBox="1"/>
          <p:nvPr/>
        </p:nvSpPr>
        <p:spPr>
          <a:xfrm>
            <a:off x="3968496" y="1975104"/>
            <a:ext cx="164592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500" b="1">
                <a:solidFill>
                  <a:srgbClr val="152A3A"/>
                </a:solidFill>
                <a:latin typeface="Aptos" panose="020B0004020202020204" pitchFamily="34" charset="0"/>
              </a:rPr>
              <a:t>02 · Preparar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1E5F8F7-1EC6-C55E-CDE8-8866C5C54D67}"/>
              </a:ext>
            </a:extLst>
          </p:cNvPr>
          <p:cNvSpPr txBox="1"/>
          <p:nvPr/>
        </p:nvSpPr>
        <p:spPr>
          <a:xfrm>
            <a:off x="3813048" y="2542032"/>
            <a:ext cx="1691640" cy="24231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200" dirty="0">
                <a:solidFill>
                  <a:srgbClr val="263B4A"/>
                </a:solidFill>
                <a:latin typeface="Aptos" panose="020B0004020202020204" pitchFamily="34" charset="0"/>
              </a:rPr>
              <a:t>Crear las 52 cartas y mezclarlas.</a:t>
            </a:r>
            <a:endParaRPr lang="en-US" sz="1200" dirty="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58440AC-60A1-E431-3456-048E7C6DD4D2}"/>
              </a:ext>
            </a:extLst>
          </p:cNvPr>
          <p:cNvSpPr/>
          <p:nvPr/>
        </p:nvSpPr>
        <p:spPr>
          <a:xfrm>
            <a:off x="6483096" y="1828800"/>
            <a:ext cx="2148840" cy="3246120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BDE646A-3C0B-523B-1AEC-F01173A484B0}"/>
              </a:ext>
            </a:extLst>
          </p:cNvPr>
          <p:cNvSpPr/>
          <p:nvPr/>
        </p:nvSpPr>
        <p:spPr>
          <a:xfrm>
            <a:off x="6665976" y="2011680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D256946-83BF-2137-2F0D-0B308708B57D}"/>
              </a:ext>
            </a:extLst>
          </p:cNvPr>
          <p:cNvSpPr txBox="1"/>
          <p:nvPr/>
        </p:nvSpPr>
        <p:spPr>
          <a:xfrm>
            <a:off x="6867144" y="1975104"/>
            <a:ext cx="164592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500" b="1">
                <a:solidFill>
                  <a:srgbClr val="152A3A"/>
                </a:solidFill>
                <a:latin typeface="Aptos" panose="020B0004020202020204" pitchFamily="34" charset="0"/>
              </a:rPr>
              <a:t>03 · Cortar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9305CCB-9737-F982-DD0D-B6E92D52786D}"/>
              </a:ext>
            </a:extLst>
          </p:cNvPr>
          <p:cNvSpPr txBox="1"/>
          <p:nvPr/>
        </p:nvSpPr>
        <p:spPr>
          <a:xfrm>
            <a:off x="6711696" y="2542032"/>
            <a:ext cx="1691640" cy="24231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200" dirty="0">
                <a:solidFill>
                  <a:srgbClr val="263B4A"/>
                </a:solidFill>
                <a:latin typeface="Aptos" panose="020B0004020202020204" pitchFamily="34" charset="0"/>
              </a:rPr>
              <a:t>Un solo </a:t>
            </a:r>
            <a:r>
              <a:rPr lang="en-US" sz="1200" dirty="0" err="1">
                <a:solidFill>
                  <a:srgbClr val="263B4A"/>
                </a:solidFill>
                <a:latin typeface="Aptos" panose="020B0004020202020204" pitchFamily="34" charset="0"/>
              </a:rPr>
              <a:t>jugador</a:t>
            </a:r>
            <a:r>
              <a:rPr lang="en-US" sz="1200" dirty="0">
                <a:solidFill>
                  <a:srgbClr val="263B4A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rgbClr val="263B4A"/>
                </a:solidFill>
                <a:latin typeface="Aptos" panose="020B0004020202020204" pitchFamily="34" charset="0"/>
              </a:rPr>
              <a:t>siempre</a:t>
            </a:r>
            <a:r>
              <a:rPr lang="en-US" sz="1200" dirty="0">
                <a:solidFill>
                  <a:srgbClr val="263B4A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rgbClr val="263B4A"/>
                </a:solidFill>
                <a:latin typeface="Aptos" panose="020B0004020202020204" pitchFamily="34" charset="0"/>
              </a:rPr>
              <a:t>corta</a:t>
            </a:r>
            <a:r>
              <a:rPr lang="en-US" sz="1200" dirty="0">
                <a:solidFill>
                  <a:srgbClr val="263B4A"/>
                </a:solidFill>
                <a:latin typeface="Aptos" panose="020B0004020202020204" pitchFamily="34" charset="0"/>
              </a:rPr>
              <a:t>; </a:t>
            </a:r>
            <a:r>
              <a:rPr lang="en-US" sz="1200" dirty="0" err="1">
                <a:solidFill>
                  <a:srgbClr val="263B4A"/>
                </a:solidFill>
                <a:latin typeface="Aptos" panose="020B0004020202020204" pitchFamily="34" charset="0"/>
              </a:rPr>
              <a:t>en</a:t>
            </a:r>
            <a:r>
              <a:rPr lang="en-US" sz="1200" dirty="0">
                <a:solidFill>
                  <a:srgbClr val="263B4A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rgbClr val="263B4A"/>
                </a:solidFill>
                <a:latin typeface="Aptos" panose="020B0004020202020204" pitchFamily="34" charset="0"/>
              </a:rPr>
              <a:t>multijugador</a:t>
            </a:r>
            <a:r>
              <a:rPr lang="en-US" sz="1200" dirty="0">
                <a:solidFill>
                  <a:srgbClr val="263B4A"/>
                </a:solidFill>
                <a:latin typeface="Aptos" panose="020B0004020202020204" pitchFamily="34" charset="0"/>
              </a:rPr>
              <a:t> </a:t>
            </a:r>
            <a:r>
              <a:rPr lang="en-US" sz="1200" dirty="0" err="1">
                <a:solidFill>
                  <a:srgbClr val="263B4A"/>
                </a:solidFill>
                <a:latin typeface="Aptos" panose="020B0004020202020204" pitchFamily="34" charset="0"/>
              </a:rPr>
              <a:t>rota</a:t>
            </a:r>
            <a:r>
              <a:rPr lang="en-US" sz="1200" dirty="0">
                <a:solidFill>
                  <a:srgbClr val="263B4A"/>
                </a:solidFill>
                <a:latin typeface="Aptos" panose="020B0004020202020204" pitchFamily="34" charset="0"/>
              </a:rPr>
              <a:t> entre </a:t>
            </a:r>
            <a:r>
              <a:rPr lang="en-US" sz="1200" dirty="0" err="1">
                <a:solidFill>
                  <a:srgbClr val="263B4A"/>
                </a:solidFill>
                <a:latin typeface="Aptos" panose="020B0004020202020204" pitchFamily="34" charset="0"/>
              </a:rPr>
              <a:t>activos</a:t>
            </a:r>
            <a:r>
              <a:rPr lang="en-US" sz="1200" dirty="0">
                <a:solidFill>
                  <a:srgbClr val="263B4A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CA7BDEC5-2B36-980A-8A9C-D0938E2DA9FE}"/>
              </a:ext>
            </a:extLst>
          </p:cNvPr>
          <p:cNvSpPr/>
          <p:nvPr/>
        </p:nvSpPr>
        <p:spPr>
          <a:xfrm>
            <a:off x="9381744" y="1828800"/>
            <a:ext cx="2148840" cy="3246120"/>
          </a:xfrm>
          <a:prstGeom prst="roundRect">
            <a:avLst/>
          </a:prstGeom>
          <a:solidFill>
            <a:srgbClr val="D8E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C016CBC-0399-D961-8225-605EF6DBFF31}"/>
              </a:ext>
            </a:extLst>
          </p:cNvPr>
          <p:cNvSpPr/>
          <p:nvPr/>
        </p:nvSpPr>
        <p:spPr>
          <a:xfrm>
            <a:off x="9564624" y="2011680"/>
            <a:ext cx="73152" cy="365760"/>
          </a:xfrm>
          <a:prstGeom prst="roundRect">
            <a:avLst/>
          </a:prstGeom>
          <a:solidFill>
            <a:srgbClr val="6A7C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E790B28-36BD-68BB-D225-1D6AF3D9FD52}"/>
              </a:ext>
            </a:extLst>
          </p:cNvPr>
          <p:cNvSpPr txBox="1"/>
          <p:nvPr/>
        </p:nvSpPr>
        <p:spPr>
          <a:xfrm>
            <a:off x="9765792" y="1975104"/>
            <a:ext cx="164592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500" b="1">
                <a:solidFill>
                  <a:srgbClr val="152A3A"/>
                </a:solidFill>
                <a:latin typeface="Aptos" panose="020B0004020202020204" pitchFamily="34" charset="0"/>
              </a:rPr>
              <a:t>04 · Apostar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99230AD-A9F6-F3CB-EF38-A6CD9867C2AE}"/>
              </a:ext>
            </a:extLst>
          </p:cNvPr>
          <p:cNvSpPr txBox="1"/>
          <p:nvPr/>
        </p:nvSpPr>
        <p:spPr>
          <a:xfrm>
            <a:off x="9610344" y="2542032"/>
            <a:ext cx="1691640" cy="242316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200" dirty="0">
                <a:solidFill>
                  <a:srgbClr val="263B4A"/>
                </a:solidFill>
                <a:latin typeface="Aptos" panose="020B0004020202020204" pitchFamily="34" charset="0"/>
              </a:rPr>
              <a:t>Importe dentro del saldo y sobre el mínimo que el jugador pone a riesgo.</a:t>
            </a:r>
            <a:endParaRPr lang="en-US" sz="1200" dirty="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FA8681D-541E-33CF-AF19-8C2CD8A14975}"/>
              </a:ext>
            </a:extLst>
          </p:cNvPr>
          <p:cNvSpPr txBox="1"/>
          <p:nvPr/>
        </p:nvSpPr>
        <p:spPr>
          <a:xfrm>
            <a:off x="1280160" y="5623560"/>
            <a:ext cx="9601200" cy="329184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La base prepara la ronda; cada versión aporta su cortador y el recorrido de sus jugadores.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11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80B1C04-C91A-8234-E219-0EADAE03D14C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E731CB-05D4-1170-FB77-E6F821D2E459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14 · REPARTO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5D8486-3822-9084-6A82-869596A71912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Reparto inicial, con variante para cada modalidad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1E683C-E44E-4BBD-F5E3-500ED4AAF27C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09F89A5-54BA-37F1-A378-B43DC758F258}"/>
              </a:ext>
            </a:extLst>
          </p:cNvPr>
          <p:cNvSpPr/>
          <p:nvPr/>
        </p:nvSpPr>
        <p:spPr>
          <a:xfrm>
            <a:off x="822960" y="1874520"/>
            <a:ext cx="2834640" cy="2514600"/>
          </a:xfrm>
          <a:prstGeom prst="roundRect">
            <a:avLst/>
          </a:prstGeom>
          <a:solidFill>
            <a:srgbClr val="FFF9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9A48AB2-BFE7-11EB-08CC-B372641C4360}"/>
              </a:ext>
            </a:extLst>
          </p:cNvPr>
          <p:cNvSpPr/>
          <p:nvPr/>
        </p:nvSpPr>
        <p:spPr>
          <a:xfrm>
            <a:off x="1005840" y="205740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2B8E53-1310-E6B7-8051-590869F2BA72}"/>
              </a:ext>
            </a:extLst>
          </p:cNvPr>
          <p:cNvSpPr txBox="1"/>
          <p:nvPr/>
        </p:nvSpPr>
        <p:spPr>
          <a:xfrm>
            <a:off x="1207008" y="2020824"/>
            <a:ext cx="233172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100" b="1">
                <a:solidFill>
                  <a:srgbClr val="152A3A"/>
                </a:solidFill>
                <a:latin typeface="Aptos" panose="020B0004020202020204" pitchFamily="34" charset="0"/>
              </a:rPr>
              <a:t>Jugadores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D822D1-B08A-40C6-23C4-5CAFE562688E}"/>
              </a:ext>
            </a:extLst>
          </p:cNvPr>
          <p:cNvSpPr txBox="1"/>
          <p:nvPr/>
        </p:nvSpPr>
        <p:spPr>
          <a:xfrm>
            <a:off x="1051560" y="2587752"/>
            <a:ext cx="2377440" cy="169164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600" dirty="0">
                <a:solidFill>
                  <a:srgbClr val="263B4A"/>
                </a:solidFill>
                <a:latin typeface="Aptos" panose="020B0004020202020204" pitchFamily="34" charset="0"/>
              </a:rPr>
              <a:t>Dos cartas al </a:t>
            </a:r>
            <a:r>
              <a:rPr lang="en-US" sz="1600" dirty="0" err="1">
                <a:solidFill>
                  <a:srgbClr val="263B4A"/>
                </a:solidFill>
                <a:latin typeface="Aptos" panose="020B0004020202020204" pitchFamily="34" charset="0"/>
              </a:rPr>
              <a:t>jugador</a:t>
            </a:r>
            <a:r>
              <a:rPr lang="en-US" sz="1600" dirty="0">
                <a:solidFill>
                  <a:srgbClr val="263B4A"/>
                </a:solidFill>
                <a:latin typeface="Aptos" panose="020B0004020202020204" pitchFamily="34" charset="0"/>
              </a:rPr>
              <a:t> (o a </a:t>
            </a:r>
            <a:r>
              <a:rPr lang="en-US" sz="1600" dirty="0" err="1">
                <a:solidFill>
                  <a:srgbClr val="263B4A"/>
                </a:solidFill>
                <a:latin typeface="Aptos" panose="020B0004020202020204" pitchFamily="34" charset="0"/>
              </a:rPr>
              <a:t>cada</a:t>
            </a:r>
            <a:r>
              <a:rPr lang="en-US" sz="1600" dirty="0">
                <a:solidFill>
                  <a:srgbClr val="263B4A"/>
                </a:solidFill>
                <a:latin typeface="Aptos" panose="020B0004020202020204" pitchFamily="34" charset="0"/>
              </a:rPr>
              <a:t> </a:t>
            </a:r>
            <a:r>
              <a:rPr lang="en-US" sz="1600" dirty="0" err="1">
                <a:solidFill>
                  <a:srgbClr val="263B4A"/>
                </a:solidFill>
                <a:latin typeface="Aptos" panose="020B0004020202020204" pitchFamily="34" charset="0"/>
              </a:rPr>
              <a:t>jugador</a:t>
            </a:r>
            <a:r>
              <a:rPr lang="en-US" sz="1600" dirty="0">
                <a:solidFill>
                  <a:srgbClr val="263B4A"/>
                </a:solidFill>
                <a:latin typeface="Aptos" panose="020B0004020202020204" pitchFamily="34" charset="0"/>
              </a:rPr>
              <a:t> </a:t>
            </a:r>
            <a:r>
              <a:rPr lang="en-US" sz="1600" dirty="0" err="1">
                <a:solidFill>
                  <a:srgbClr val="263B4A"/>
                </a:solidFill>
                <a:latin typeface="Aptos" panose="020B0004020202020204" pitchFamily="34" charset="0"/>
              </a:rPr>
              <a:t>activo</a:t>
            </a:r>
            <a:r>
              <a:rPr lang="en-US" sz="1600" dirty="0">
                <a:solidFill>
                  <a:srgbClr val="263B4A"/>
                </a:solidFill>
                <a:latin typeface="Aptos" panose="020B0004020202020204" pitchFamily="34" charset="0"/>
              </a:rPr>
              <a:t> </a:t>
            </a:r>
            <a:r>
              <a:rPr lang="en-US" sz="1600" dirty="0" err="1">
                <a:solidFill>
                  <a:srgbClr val="263B4A"/>
                </a:solidFill>
                <a:latin typeface="Aptos" panose="020B0004020202020204" pitchFamily="34" charset="0"/>
              </a:rPr>
              <a:t>en</a:t>
            </a:r>
            <a:r>
              <a:rPr lang="en-US" sz="1600" dirty="0">
                <a:solidFill>
                  <a:srgbClr val="263B4A"/>
                </a:solidFill>
                <a:latin typeface="Aptos" panose="020B0004020202020204" pitchFamily="34" charset="0"/>
              </a:rPr>
              <a:t> </a:t>
            </a:r>
            <a:r>
              <a:rPr lang="en-US" sz="1600" dirty="0" err="1">
                <a:solidFill>
                  <a:srgbClr val="263B4A"/>
                </a:solidFill>
                <a:latin typeface="Aptos" panose="020B0004020202020204" pitchFamily="34" charset="0"/>
              </a:rPr>
              <a:t>multijugador</a:t>
            </a:r>
            <a:r>
              <a:rPr lang="en-US" sz="1600" dirty="0">
                <a:solidFill>
                  <a:srgbClr val="263B4A"/>
                </a:solidFill>
                <a:latin typeface="Aptos" panose="020B0004020202020204" pitchFamily="34" charset="0"/>
              </a:rPr>
              <a:t>).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3B4F89-D162-32AB-45B1-AD03AB1BB006}"/>
              </a:ext>
            </a:extLst>
          </p:cNvPr>
          <p:cNvSpPr txBox="1"/>
          <p:nvPr/>
        </p:nvSpPr>
        <p:spPr>
          <a:xfrm>
            <a:off x="3712464" y="2825496"/>
            <a:ext cx="50292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500" b="1">
                <a:solidFill>
                  <a:srgbClr val="168A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9388976-AB39-90DB-2737-110B51CCCC42}"/>
              </a:ext>
            </a:extLst>
          </p:cNvPr>
          <p:cNvSpPr/>
          <p:nvPr/>
        </p:nvSpPr>
        <p:spPr>
          <a:xfrm>
            <a:off x="4370832" y="1874520"/>
            <a:ext cx="3246120" cy="251460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70A6E7F-6F34-CCDB-DE69-07EF127F2BB6}"/>
              </a:ext>
            </a:extLst>
          </p:cNvPr>
          <p:cNvSpPr/>
          <p:nvPr/>
        </p:nvSpPr>
        <p:spPr>
          <a:xfrm>
            <a:off x="4553712" y="2057400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02CBD11-90FF-9E2D-B7D3-EE7278700E45}"/>
              </a:ext>
            </a:extLst>
          </p:cNvPr>
          <p:cNvSpPr txBox="1"/>
          <p:nvPr/>
        </p:nvSpPr>
        <p:spPr>
          <a:xfrm>
            <a:off x="4754880" y="2020824"/>
            <a:ext cx="27432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100" b="1">
                <a:solidFill>
                  <a:srgbClr val="152A3A"/>
                </a:solidFill>
                <a:latin typeface="Aptos" panose="020B0004020202020204" pitchFamily="34" charset="0"/>
              </a:rPr>
              <a:t>Croupier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38B6922-FD56-FDFD-0B82-057051DB781E}"/>
              </a:ext>
            </a:extLst>
          </p:cNvPr>
          <p:cNvSpPr txBox="1"/>
          <p:nvPr/>
        </p:nvSpPr>
        <p:spPr>
          <a:xfrm>
            <a:off x="4599432" y="2587752"/>
            <a:ext cx="2788920" cy="169164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600">
                <a:solidFill>
                  <a:srgbClr val="263B4A"/>
                </a:solidFill>
                <a:latin typeface="Aptos" panose="020B0004020202020204" pitchFamily="34" charset="0"/>
              </a:rPr>
              <a:t>Una carta visible y una oculta.</a:t>
            </a:r>
            <a:endParaRPr lang="en-US" sz="16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3AD9C9A-6328-1B0E-F166-AE4E2A0143D6}"/>
              </a:ext>
            </a:extLst>
          </p:cNvPr>
          <p:cNvSpPr txBox="1"/>
          <p:nvPr/>
        </p:nvSpPr>
        <p:spPr>
          <a:xfrm>
            <a:off x="7653528" y="2825496"/>
            <a:ext cx="50292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500" b="1">
                <a:solidFill>
                  <a:srgbClr val="168A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D0C88C8-E0FE-B211-3FBB-36FBB89988C8}"/>
              </a:ext>
            </a:extLst>
          </p:cNvPr>
          <p:cNvSpPr/>
          <p:nvPr/>
        </p:nvSpPr>
        <p:spPr>
          <a:xfrm>
            <a:off x="8275320" y="1874520"/>
            <a:ext cx="2880360" cy="2514600"/>
          </a:xfrm>
          <a:prstGeom prst="roundRect">
            <a:avLst/>
          </a:prstGeom>
          <a:solidFill>
            <a:srgbClr val="D8E0F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47015FE-FD43-4557-7FD6-5DC18CF7CEA3}"/>
              </a:ext>
            </a:extLst>
          </p:cNvPr>
          <p:cNvSpPr/>
          <p:nvPr/>
        </p:nvSpPr>
        <p:spPr>
          <a:xfrm>
            <a:off x="8458200" y="2057400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92F2268-4ACA-8C13-6071-DA6F179C4CEA}"/>
              </a:ext>
            </a:extLst>
          </p:cNvPr>
          <p:cNvSpPr txBox="1"/>
          <p:nvPr/>
        </p:nvSpPr>
        <p:spPr>
          <a:xfrm>
            <a:off x="8659368" y="2020824"/>
            <a:ext cx="237744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100" b="1">
                <a:solidFill>
                  <a:srgbClr val="152A3A"/>
                </a:solidFill>
                <a:latin typeface="Aptos" panose="020B0004020202020204" pitchFamily="34" charset="0"/>
              </a:rPr>
              <a:t>Mesa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25BAE56-58E5-9F97-3C72-18EB5D7F3A74}"/>
              </a:ext>
            </a:extLst>
          </p:cNvPr>
          <p:cNvSpPr txBox="1"/>
          <p:nvPr/>
        </p:nvSpPr>
        <p:spPr>
          <a:xfrm>
            <a:off x="8503920" y="2587752"/>
            <a:ext cx="2423160" cy="169164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Manos iniciales y apuestas visibles.</a:t>
            </a:r>
            <a:endParaRPr lang="en-US" sz="15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D4E39E4-313F-A42B-02A0-0955A67E749D}"/>
              </a:ext>
            </a:extLst>
          </p:cNvPr>
          <p:cNvSpPr txBox="1"/>
          <p:nvPr/>
        </p:nvSpPr>
        <p:spPr>
          <a:xfrm>
            <a:off x="1051560" y="5193792"/>
            <a:ext cx="10058400" cy="47548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300">
                <a:solidFill>
                  <a:srgbClr val="647584"/>
                </a:solidFill>
                <a:latin typeface="Aptos" panose="020B0004020202020204" pitchFamily="34" charset="0"/>
              </a:rPr>
              <a:t>El croupier ofrece un método para un jugador y otro para la lista multijugador.</a:t>
            </a:r>
            <a:endParaRPr lang="en-US" sz="13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720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6CA12C8-45CF-CABA-5B7C-5492905A6188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4C1C90-12FE-ADBD-7733-ABB454657DEB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15 · TURNO DEL JUGADOR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A6B53C-84C1-8CD1-206D-8EC471449859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500" b="1">
                <a:solidFill>
                  <a:srgbClr val="152A3A"/>
                </a:solidFill>
                <a:latin typeface="Aptos" panose="020B0004020202020204" pitchFamily="34" charset="0"/>
              </a:rPr>
              <a:t>Pedir o plantarse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DBE0A91-A47E-E3DF-2A12-E16473A88C2F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55A44D5-F9C2-606F-65A3-4FEC186CFDEA}"/>
              </a:ext>
            </a:extLst>
          </p:cNvPr>
          <p:cNvSpPr/>
          <p:nvPr/>
        </p:nvSpPr>
        <p:spPr>
          <a:xfrm>
            <a:off x="868680" y="1828800"/>
            <a:ext cx="5047488" cy="3493008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48A068E-AEFA-24DD-E4FE-97DA2A492205}"/>
              </a:ext>
            </a:extLst>
          </p:cNvPr>
          <p:cNvSpPr/>
          <p:nvPr/>
        </p:nvSpPr>
        <p:spPr>
          <a:xfrm>
            <a:off x="1051560" y="2011680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90C9BE-6111-AB61-54DE-798B645CFE82}"/>
              </a:ext>
            </a:extLst>
          </p:cNvPr>
          <p:cNvSpPr txBox="1"/>
          <p:nvPr/>
        </p:nvSpPr>
        <p:spPr>
          <a:xfrm>
            <a:off x="1252728" y="1975104"/>
            <a:ext cx="4544568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300" b="1">
                <a:solidFill>
                  <a:srgbClr val="152A3A"/>
                </a:solidFill>
                <a:latin typeface="Aptos" panose="020B0004020202020204" pitchFamily="34" charset="0"/>
              </a:rPr>
              <a:t>PEDIR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FAA878-D877-2AEC-25E0-AACC9B7A3312}"/>
              </a:ext>
            </a:extLst>
          </p:cNvPr>
          <p:cNvSpPr txBox="1"/>
          <p:nvPr/>
        </p:nvSpPr>
        <p:spPr>
          <a:xfrm>
            <a:off x="1097280" y="2542032"/>
            <a:ext cx="4590288" cy="267004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Recibe una carta.</a:t>
            </a:r>
          </a:p>
          <a:p>
            <a:endParaRPr lang="es-ES" sz="15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Se recalculan los puntos.</a:t>
            </a:r>
          </a:p>
          <a:p>
            <a:endParaRPr lang="es-ES" sz="15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El turno continúa mientras no se plante, no llegue a 21 y no se pase.</a:t>
            </a:r>
            <a:endParaRPr lang="en-US" sz="15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31505BC-F2FC-45C7-0F54-F3575DEC8BC8}"/>
              </a:ext>
            </a:extLst>
          </p:cNvPr>
          <p:cNvSpPr/>
          <p:nvPr/>
        </p:nvSpPr>
        <p:spPr>
          <a:xfrm>
            <a:off x="6263640" y="1828800"/>
            <a:ext cx="5047488" cy="3493008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64CD060-C9F2-0C82-C737-985FB0E28E1F}"/>
              </a:ext>
            </a:extLst>
          </p:cNvPr>
          <p:cNvSpPr/>
          <p:nvPr/>
        </p:nvSpPr>
        <p:spPr>
          <a:xfrm>
            <a:off x="6446520" y="201168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4FBD1B8-1232-941C-3F59-B61C0C417CA9}"/>
              </a:ext>
            </a:extLst>
          </p:cNvPr>
          <p:cNvSpPr txBox="1"/>
          <p:nvPr/>
        </p:nvSpPr>
        <p:spPr>
          <a:xfrm>
            <a:off x="6647688" y="1975104"/>
            <a:ext cx="4544568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300" b="1">
                <a:solidFill>
                  <a:srgbClr val="152A3A"/>
                </a:solidFill>
                <a:latin typeface="Aptos" panose="020B0004020202020204" pitchFamily="34" charset="0"/>
              </a:rPr>
              <a:t>PLANTARSE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45C5E9C-5C9E-DD8D-C5A1-082105C060A6}"/>
              </a:ext>
            </a:extLst>
          </p:cNvPr>
          <p:cNvSpPr txBox="1"/>
          <p:nvPr/>
        </p:nvSpPr>
        <p:spPr>
          <a:xfrm>
            <a:off x="6492240" y="2542032"/>
            <a:ext cx="4590288" cy="267004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El turno termina.</a:t>
            </a:r>
          </a:p>
          <a:p>
            <a:endParaRPr lang="es-ES" sz="15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500">
                <a:solidFill>
                  <a:srgbClr val="263B4A"/>
                </a:solidFill>
                <a:latin typeface="Aptos" panose="020B0004020202020204" pitchFamily="34" charset="0"/>
              </a:rPr>
              <a:t>La mano queda fija hasta resolver la ronda.</a:t>
            </a:r>
            <a:endParaRPr lang="en-US" sz="15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64CD42A-2A9D-CD5A-20E8-CCB30997B4EE}"/>
              </a:ext>
            </a:extLst>
          </p:cNvPr>
          <p:cNvSpPr txBox="1"/>
          <p:nvPr/>
        </p:nvSpPr>
        <p:spPr>
          <a:xfrm>
            <a:off x="1325880" y="5623560"/>
            <a:ext cx="9509760" cy="34747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El Blackjack inicial se marca como plantado y no recibe más cartas.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83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DA1696E-2616-6E53-CBA3-D359E9A73E96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B9498E-B817-C059-D1DD-274A4C219767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16 · TURNO DEL CROUPIER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71E903-80A1-2230-16EF-527E4D72ECF8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500" b="1">
                <a:solidFill>
                  <a:srgbClr val="152A3A"/>
                </a:solidFill>
                <a:latin typeface="Aptos" panose="020B0004020202020204" pitchFamily="34" charset="0"/>
              </a:rPr>
              <a:t>La estrategia determina el final del turno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CD5591A-E228-2FCF-C4B7-FCDC3387ED09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3851BF3-0F73-C4E8-A368-A6FC47D8DC6C}"/>
              </a:ext>
            </a:extLst>
          </p:cNvPr>
          <p:cNvSpPr/>
          <p:nvPr/>
        </p:nvSpPr>
        <p:spPr>
          <a:xfrm>
            <a:off x="960120" y="1874520"/>
            <a:ext cx="2971800" cy="2606040"/>
          </a:xfrm>
          <a:prstGeom prst="roundRect">
            <a:avLst/>
          </a:prstGeom>
          <a:solidFill>
            <a:srgbClr val="D8E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333823D-7D2C-42FF-AFB7-DD87A2401C83}"/>
              </a:ext>
            </a:extLst>
          </p:cNvPr>
          <p:cNvSpPr/>
          <p:nvPr/>
        </p:nvSpPr>
        <p:spPr>
          <a:xfrm>
            <a:off x="1143000" y="2057400"/>
            <a:ext cx="73152" cy="365760"/>
          </a:xfrm>
          <a:prstGeom prst="roundRect">
            <a:avLst/>
          </a:prstGeom>
          <a:solidFill>
            <a:srgbClr val="6A7C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7C102A8-2A26-2B34-4DF4-48AD238030FA}"/>
              </a:ext>
            </a:extLst>
          </p:cNvPr>
          <p:cNvSpPr txBox="1"/>
          <p:nvPr/>
        </p:nvSpPr>
        <p:spPr>
          <a:xfrm>
            <a:off x="1344168" y="2020824"/>
            <a:ext cx="24688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900" b="1">
                <a:solidFill>
                  <a:srgbClr val="152A3A"/>
                </a:solidFill>
                <a:latin typeface="Aptos" panose="020B0004020202020204" pitchFamily="34" charset="0"/>
              </a:rPr>
              <a:t>1 · Revelar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F273D54-CA91-BE98-0A5D-1C31F8E32FE1}"/>
              </a:ext>
            </a:extLst>
          </p:cNvPr>
          <p:cNvSpPr txBox="1"/>
          <p:nvPr/>
        </p:nvSpPr>
        <p:spPr>
          <a:xfrm>
            <a:off x="1188720" y="2587752"/>
            <a:ext cx="2514600" cy="17830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La segunda carta pasa a estar visible.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5CF2E6-D6AA-92AC-732E-363DBCC1BE38}"/>
              </a:ext>
            </a:extLst>
          </p:cNvPr>
          <p:cNvSpPr txBox="1"/>
          <p:nvPr/>
        </p:nvSpPr>
        <p:spPr>
          <a:xfrm>
            <a:off x="4023360" y="2880360"/>
            <a:ext cx="4572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300" b="1">
                <a:solidFill>
                  <a:srgbClr val="168A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67ABCFF-8D13-4BC6-9FD4-C364FEC54392}"/>
              </a:ext>
            </a:extLst>
          </p:cNvPr>
          <p:cNvSpPr/>
          <p:nvPr/>
        </p:nvSpPr>
        <p:spPr>
          <a:xfrm>
            <a:off x="4590288" y="1874520"/>
            <a:ext cx="2971800" cy="2606040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BB82C15-34FE-4F51-4EDF-F76B211FD1E2}"/>
              </a:ext>
            </a:extLst>
          </p:cNvPr>
          <p:cNvSpPr/>
          <p:nvPr/>
        </p:nvSpPr>
        <p:spPr>
          <a:xfrm>
            <a:off x="4773168" y="2057400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12B1808-AAD5-69DB-28B2-B995E949E5AF}"/>
              </a:ext>
            </a:extLst>
          </p:cNvPr>
          <p:cNvSpPr txBox="1"/>
          <p:nvPr/>
        </p:nvSpPr>
        <p:spPr>
          <a:xfrm>
            <a:off x="4974336" y="2020824"/>
            <a:ext cx="24688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900" b="1">
                <a:solidFill>
                  <a:srgbClr val="152A3A"/>
                </a:solidFill>
                <a:latin typeface="Aptos" panose="020B0004020202020204" pitchFamily="34" charset="0"/>
              </a:rPr>
              <a:t>2 · Pedir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6CC027-4181-A549-D239-596C4190D142}"/>
              </a:ext>
            </a:extLst>
          </p:cNvPr>
          <p:cNvSpPr txBox="1"/>
          <p:nvPr/>
        </p:nvSpPr>
        <p:spPr>
          <a:xfrm>
            <a:off x="4818888" y="2587752"/>
            <a:ext cx="2514600" cy="17830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Con menos de 17, toma otra carta.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28E67F9-B71B-4B8E-E75C-F78CFAC10BBC}"/>
              </a:ext>
            </a:extLst>
          </p:cNvPr>
          <p:cNvSpPr txBox="1"/>
          <p:nvPr/>
        </p:nvSpPr>
        <p:spPr>
          <a:xfrm>
            <a:off x="7662672" y="2880360"/>
            <a:ext cx="4572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300" b="1">
                <a:solidFill>
                  <a:srgbClr val="168A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15D921A-912C-6AB2-59DE-CBA640E5EA66}"/>
              </a:ext>
            </a:extLst>
          </p:cNvPr>
          <p:cNvSpPr/>
          <p:nvPr/>
        </p:nvSpPr>
        <p:spPr>
          <a:xfrm>
            <a:off x="8229600" y="1874520"/>
            <a:ext cx="2971800" cy="2606040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682237C-A05A-1CC6-0E9B-60C31FE37E97}"/>
              </a:ext>
            </a:extLst>
          </p:cNvPr>
          <p:cNvSpPr/>
          <p:nvPr/>
        </p:nvSpPr>
        <p:spPr>
          <a:xfrm>
            <a:off x="8412480" y="205740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0A29A5E-E56D-F3E6-0B92-9E41E0510C4D}"/>
              </a:ext>
            </a:extLst>
          </p:cNvPr>
          <p:cNvSpPr txBox="1"/>
          <p:nvPr/>
        </p:nvSpPr>
        <p:spPr>
          <a:xfrm>
            <a:off x="8613648" y="2020824"/>
            <a:ext cx="24688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900" b="1">
                <a:solidFill>
                  <a:srgbClr val="152A3A"/>
                </a:solidFill>
                <a:latin typeface="Aptos" panose="020B0004020202020204" pitchFamily="34" charset="0"/>
              </a:rPr>
              <a:t>3 · Plantarse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15323C4-15FA-DFD1-E4D2-CF6B542E02A7}"/>
              </a:ext>
            </a:extLst>
          </p:cNvPr>
          <p:cNvSpPr txBox="1"/>
          <p:nvPr/>
        </p:nvSpPr>
        <p:spPr>
          <a:xfrm>
            <a:off x="8458200" y="2587752"/>
            <a:ext cx="2514600" cy="17830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Con 17 o más, termina el turno.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2552CCA-01ED-473A-3A1E-9B99C26C4CC4}"/>
              </a:ext>
            </a:extLst>
          </p:cNvPr>
          <p:cNvSpPr txBox="1"/>
          <p:nvPr/>
        </p:nvSpPr>
        <p:spPr>
          <a:xfrm>
            <a:off x="1234440" y="5349240"/>
            <a:ext cx="9692640" cy="4114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300">
                <a:solidFill>
                  <a:srgbClr val="647584"/>
                </a:solidFill>
                <a:latin typeface="Aptos" panose="020B0004020202020204" pitchFamily="34" charset="0"/>
              </a:rPr>
              <a:t>Si supera 21, puede ganar cualquier mano de jugador que no se haya pasado.</a:t>
            </a:r>
            <a:endParaRPr lang="en-US" sz="13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796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387097-D526-6F44-7867-012665B88F5D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F0FE8E-8B91-7221-545D-1B295CE9B4E6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17 · RESOLUCIÓN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D28D77-2DB6-F724-C559-BB833F1EF508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2500" b="1">
                <a:solidFill>
                  <a:srgbClr val="152A3A"/>
                </a:solidFill>
                <a:latin typeface="Aptos" panose="020B0004020202020204" pitchFamily="34" charset="0"/>
              </a:rPr>
              <a:t>Cada jugador se compara con el croupier</a:t>
            </a:r>
            <a:endParaRPr lang="en-US" sz="2500" b="1">
              <a:solidFill>
                <a:srgbClr val="152A3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E1E1E7-E36E-5459-8F9B-3649E5871E51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54384B2-0A96-3B61-6C61-44957A6790E3}"/>
              </a:ext>
            </a:extLst>
          </p:cNvPr>
          <p:cNvSpPr/>
          <p:nvPr/>
        </p:nvSpPr>
        <p:spPr>
          <a:xfrm>
            <a:off x="758952" y="1783080"/>
            <a:ext cx="3429000" cy="3547872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15459C1-9A2F-D4F3-54BD-A2C98F9E3A25}"/>
              </a:ext>
            </a:extLst>
          </p:cNvPr>
          <p:cNvSpPr/>
          <p:nvPr/>
        </p:nvSpPr>
        <p:spPr>
          <a:xfrm>
            <a:off x="941832" y="196596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D6E05E-8F8B-1CAC-0934-D52F2B5016A4}"/>
              </a:ext>
            </a:extLst>
          </p:cNvPr>
          <p:cNvSpPr txBox="1"/>
          <p:nvPr/>
        </p:nvSpPr>
        <p:spPr>
          <a:xfrm>
            <a:off x="1143000" y="1929384"/>
            <a:ext cx="29260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200" b="1">
                <a:solidFill>
                  <a:srgbClr val="152A3A"/>
                </a:solidFill>
                <a:latin typeface="Aptos" panose="020B0004020202020204" pitchFamily="34" charset="0"/>
              </a:rPr>
              <a:t>Gana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5A9EE6-237E-207F-A366-5FA6BD54FBF7}"/>
              </a:ext>
            </a:extLst>
          </p:cNvPr>
          <p:cNvSpPr txBox="1"/>
          <p:nvPr/>
        </p:nvSpPr>
        <p:spPr>
          <a:xfrm>
            <a:off x="987552" y="2496312"/>
            <a:ext cx="2971800" cy="272491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Jugador no pasado con más puntos; el Blackjack natural también vence a un 21 ordinario; o croupier pasado.</a:t>
            </a:r>
          </a:p>
          <a:p>
            <a:endParaRPr lang="es-ES" sz="14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Pago 1:1; Blackjack 3:2.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10FB4CF-AD28-7B81-3FA9-D3DFED12742A}"/>
              </a:ext>
            </a:extLst>
          </p:cNvPr>
          <p:cNvSpPr/>
          <p:nvPr/>
        </p:nvSpPr>
        <p:spPr>
          <a:xfrm>
            <a:off x="4389120" y="1783080"/>
            <a:ext cx="3429000" cy="3547872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7DD0547-24CB-3ECA-6F6D-E541B38B22D3}"/>
              </a:ext>
            </a:extLst>
          </p:cNvPr>
          <p:cNvSpPr/>
          <p:nvPr/>
        </p:nvSpPr>
        <p:spPr>
          <a:xfrm>
            <a:off x="4572000" y="1965960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EAD3805-E302-8BA3-624B-8516D27A9E8D}"/>
              </a:ext>
            </a:extLst>
          </p:cNvPr>
          <p:cNvSpPr txBox="1"/>
          <p:nvPr/>
        </p:nvSpPr>
        <p:spPr>
          <a:xfrm>
            <a:off x="4773168" y="1929384"/>
            <a:ext cx="29260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200" b="1">
                <a:solidFill>
                  <a:srgbClr val="152A3A"/>
                </a:solidFill>
                <a:latin typeface="Aptos" panose="020B0004020202020204" pitchFamily="34" charset="0"/>
              </a:rPr>
              <a:t>Empate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5F1DB3A-AD9C-5383-3201-2010C4ADD362}"/>
              </a:ext>
            </a:extLst>
          </p:cNvPr>
          <p:cNvSpPr txBox="1"/>
          <p:nvPr/>
        </p:nvSpPr>
        <p:spPr>
          <a:xfrm>
            <a:off x="4617720" y="2496312"/>
            <a:ext cx="2971800" cy="272491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Mismos puntos, sin pasarse y mismo estado de Blackjack.</a:t>
            </a:r>
          </a:p>
          <a:p>
            <a:endParaRPr lang="es-ES" sz="14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Se limpia la apuesta.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00DC6F7-CA3E-4FE1-D9AB-30EB763B6A0B}"/>
              </a:ext>
            </a:extLst>
          </p:cNvPr>
          <p:cNvSpPr/>
          <p:nvPr/>
        </p:nvSpPr>
        <p:spPr>
          <a:xfrm>
            <a:off x="8019288" y="1783080"/>
            <a:ext cx="3429000" cy="3547872"/>
          </a:xfrm>
          <a:prstGeom prst="roundRect">
            <a:avLst/>
          </a:prstGeom>
          <a:solidFill>
            <a:srgbClr val="F7D9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D8C48DA-83B2-1B09-0B1D-76CB866BF728}"/>
              </a:ext>
            </a:extLst>
          </p:cNvPr>
          <p:cNvSpPr/>
          <p:nvPr/>
        </p:nvSpPr>
        <p:spPr>
          <a:xfrm>
            <a:off x="8202168" y="1965960"/>
            <a:ext cx="73152" cy="365760"/>
          </a:xfrm>
          <a:prstGeom prst="roundRect">
            <a:avLst/>
          </a:prstGeom>
          <a:solidFill>
            <a:srgbClr val="E27E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E712135-6094-2FEF-C829-169FE801DC27}"/>
              </a:ext>
            </a:extLst>
          </p:cNvPr>
          <p:cNvSpPr txBox="1"/>
          <p:nvPr/>
        </p:nvSpPr>
        <p:spPr>
          <a:xfrm>
            <a:off x="8403336" y="1929384"/>
            <a:ext cx="292608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200" b="1">
                <a:solidFill>
                  <a:srgbClr val="152A3A"/>
                </a:solidFill>
                <a:latin typeface="Aptos" panose="020B0004020202020204" pitchFamily="34" charset="0"/>
              </a:rPr>
              <a:t>Pierde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D68B4B1-9846-A738-35E4-6B204B921D5E}"/>
              </a:ext>
            </a:extLst>
          </p:cNvPr>
          <p:cNvSpPr txBox="1"/>
          <p:nvPr/>
        </p:nvSpPr>
        <p:spPr>
          <a:xfrm>
            <a:off x="8247888" y="2496312"/>
            <a:ext cx="2971800" cy="272491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Jugador pasado o sin superar los puntos del croupier.</a:t>
            </a:r>
          </a:p>
          <a:p>
            <a:endParaRPr lang="es-ES" sz="1400">
              <a:solidFill>
                <a:srgbClr val="263B4A"/>
              </a:solidFill>
              <a:latin typeface="Aptos" panose="020B0004020202020204" pitchFamily="34" charset="0"/>
            </a:endParaRPr>
          </a:p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Se descuenta la apuesta.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287FECE-729A-6416-9639-3AE315FA92D4}"/>
              </a:ext>
            </a:extLst>
          </p:cNvPr>
          <p:cNvSpPr txBox="1"/>
          <p:nvPr/>
        </p:nvSpPr>
        <p:spPr>
          <a:xfrm>
            <a:off x="1051560" y="5623560"/>
            <a:ext cx="10058400" cy="34747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Cada mano se evalúa por separado; puede haber más de un ganador.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881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700C943-0D6B-E540-73AB-9B24085F0358}"/>
              </a:ext>
            </a:extLst>
          </p:cNvPr>
          <p:cNvSpPr/>
          <p:nvPr/>
        </p:nvSpPr>
        <p:spPr>
          <a:xfrm>
            <a:off x="713232" y="365760"/>
            <a:ext cx="82296" cy="393192"/>
          </a:xfrm>
          <a:prstGeom prst="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78F725-7F7E-331D-956C-F47CF0DA710A}"/>
              </a:ext>
            </a:extLst>
          </p:cNvPr>
          <p:cNvSpPr txBox="1"/>
          <p:nvPr/>
        </p:nvSpPr>
        <p:spPr>
          <a:xfrm>
            <a:off x="932688" y="329184"/>
            <a:ext cx="9784080" cy="29260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1000" b="1">
                <a:solidFill>
                  <a:srgbClr val="168A88"/>
                </a:solidFill>
                <a:latin typeface="Aptos" panose="020B0004020202020204" pitchFamily="34" charset="0"/>
              </a:rPr>
              <a:t>18 · FIN DE RONDA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46E028-D846-D604-AF26-69F424ADA423}"/>
              </a:ext>
            </a:extLst>
          </p:cNvPr>
          <p:cNvSpPr txBox="1"/>
          <p:nvPr/>
        </p:nvSpPr>
        <p:spPr>
          <a:xfrm>
            <a:off x="713232" y="731520"/>
            <a:ext cx="10789920" cy="566928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500" b="1">
                <a:solidFill>
                  <a:srgbClr val="152A3A"/>
                </a:solidFill>
                <a:latin typeface="Aptos" panose="020B0004020202020204" pitchFamily="34" charset="0"/>
              </a:rPr>
              <a:t>Limpiar, comprobar y continuar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B1B04D9-FDF7-BC2F-55D6-2696FC2F1FFF}"/>
              </a:ext>
            </a:extLst>
          </p:cNvPr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r"/>
            <a:r>
              <a:rPr lang="en-US" sz="900">
                <a:solidFill>
                  <a:srgbClr val="647584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102B3D4-0EC8-EE47-EBF3-BE1A845B0EE1}"/>
              </a:ext>
            </a:extLst>
          </p:cNvPr>
          <p:cNvSpPr/>
          <p:nvPr/>
        </p:nvSpPr>
        <p:spPr>
          <a:xfrm>
            <a:off x="822960" y="1874520"/>
            <a:ext cx="3127248" cy="2862072"/>
          </a:xfrm>
          <a:prstGeom prst="roundRect">
            <a:avLst/>
          </a:prstGeom>
          <a:solidFill>
            <a:srgbClr val="D8E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7BFBF68-A618-8C1A-E588-2CC6D0569BA4}"/>
              </a:ext>
            </a:extLst>
          </p:cNvPr>
          <p:cNvSpPr/>
          <p:nvPr/>
        </p:nvSpPr>
        <p:spPr>
          <a:xfrm>
            <a:off x="1005840" y="2057400"/>
            <a:ext cx="73152" cy="365760"/>
          </a:xfrm>
          <a:prstGeom prst="roundRect">
            <a:avLst/>
          </a:prstGeom>
          <a:solidFill>
            <a:srgbClr val="6A7C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45E61F7-9EB4-A537-A4D0-BF1281A9EE03}"/>
              </a:ext>
            </a:extLst>
          </p:cNvPr>
          <p:cNvSpPr txBox="1"/>
          <p:nvPr/>
        </p:nvSpPr>
        <p:spPr>
          <a:xfrm>
            <a:off x="1207008" y="2020824"/>
            <a:ext cx="2624328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000" b="1">
                <a:solidFill>
                  <a:srgbClr val="152A3A"/>
                </a:solidFill>
                <a:latin typeface="Aptos" panose="020B0004020202020204" pitchFamily="34" charset="0"/>
              </a:rPr>
              <a:t>Limpiar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DF7000-6CC3-4648-3CCE-6A7D177E72DC}"/>
              </a:ext>
            </a:extLst>
          </p:cNvPr>
          <p:cNvSpPr txBox="1"/>
          <p:nvPr/>
        </p:nvSpPr>
        <p:spPr>
          <a:xfrm>
            <a:off x="1051560" y="2587752"/>
            <a:ext cx="2670048" cy="203911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Vaciar manos y restablecer el turno.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D63558B-F96F-7965-46F0-D86789BDB789}"/>
              </a:ext>
            </a:extLst>
          </p:cNvPr>
          <p:cNvSpPr txBox="1"/>
          <p:nvPr/>
        </p:nvSpPr>
        <p:spPr>
          <a:xfrm>
            <a:off x="3986784" y="2980944"/>
            <a:ext cx="4572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300" b="1">
                <a:solidFill>
                  <a:srgbClr val="168A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459B170-D88D-6AD7-E0E4-3AD62FA309A5}"/>
              </a:ext>
            </a:extLst>
          </p:cNvPr>
          <p:cNvSpPr/>
          <p:nvPr/>
        </p:nvSpPr>
        <p:spPr>
          <a:xfrm>
            <a:off x="4498848" y="1874520"/>
            <a:ext cx="3127248" cy="2862072"/>
          </a:xfrm>
          <a:prstGeom prst="roundRect">
            <a:avLst/>
          </a:prstGeom>
          <a:solidFill>
            <a:srgbClr val="F4DF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DC3FFC6-EEC8-B112-01CD-93C9CA7916E2}"/>
              </a:ext>
            </a:extLst>
          </p:cNvPr>
          <p:cNvSpPr/>
          <p:nvPr/>
        </p:nvSpPr>
        <p:spPr>
          <a:xfrm>
            <a:off x="4681728" y="2057400"/>
            <a:ext cx="73152" cy="365760"/>
          </a:xfrm>
          <a:prstGeom prst="roundRect">
            <a:avLst/>
          </a:prstGeom>
          <a:solidFill>
            <a:srgbClr val="D294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2571271-EF33-DC0F-EF16-CDCDA030B222}"/>
              </a:ext>
            </a:extLst>
          </p:cNvPr>
          <p:cNvSpPr txBox="1"/>
          <p:nvPr/>
        </p:nvSpPr>
        <p:spPr>
          <a:xfrm>
            <a:off x="4882896" y="2020824"/>
            <a:ext cx="2624328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000" b="1">
                <a:solidFill>
                  <a:srgbClr val="152A3A"/>
                </a:solidFill>
                <a:latin typeface="Aptos" panose="020B0004020202020204" pitchFamily="34" charset="0"/>
              </a:rPr>
              <a:t>Comprobar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777EF1-76F6-176A-CC46-14281FAA4898}"/>
              </a:ext>
            </a:extLst>
          </p:cNvPr>
          <p:cNvSpPr txBox="1"/>
          <p:nvPr/>
        </p:nvSpPr>
        <p:spPr>
          <a:xfrm>
            <a:off x="4727448" y="2587752"/>
            <a:ext cx="2670048" cy="203911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¿El saldo cubre otra apuesta mínima?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14850A4-EBEA-5401-8DB2-55E822AAB51B}"/>
              </a:ext>
            </a:extLst>
          </p:cNvPr>
          <p:cNvSpPr txBox="1"/>
          <p:nvPr/>
        </p:nvSpPr>
        <p:spPr>
          <a:xfrm>
            <a:off x="7662672" y="2980944"/>
            <a:ext cx="457200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n-US" sz="2300" b="1">
                <a:solidFill>
                  <a:srgbClr val="168A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30BD4ECD-B224-C2EA-3393-95039E1DA69B}"/>
              </a:ext>
            </a:extLst>
          </p:cNvPr>
          <p:cNvSpPr/>
          <p:nvPr/>
        </p:nvSpPr>
        <p:spPr>
          <a:xfrm>
            <a:off x="8183880" y="1874520"/>
            <a:ext cx="3127248" cy="2862072"/>
          </a:xfrm>
          <a:prstGeom prst="roundRect">
            <a:avLst/>
          </a:prstGeom>
          <a:solidFill>
            <a:srgbClr val="D7EC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89E52E5-14C0-CF76-CBE4-6178C7C3708A}"/>
              </a:ext>
            </a:extLst>
          </p:cNvPr>
          <p:cNvSpPr/>
          <p:nvPr/>
        </p:nvSpPr>
        <p:spPr>
          <a:xfrm>
            <a:off x="8366760" y="2057400"/>
            <a:ext cx="73152" cy="365760"/>
          </a:xfrm>
          <a:prstGeom prst="roundRect">
            <a:avLst/>
          </a:prstGeom>
          <a:solidFill>
            <a:srgbClr val="168A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1019241-BF93-ED46-3298-4573C87EBFDB}"/>
              </a:ext>
            </a:extLst>
          </p:cNvPr>
          <p:cNvSpPr txBox="1"/>
          <p:nvPr/>
        </p:nvSpPr>
        <p:spPr>
          <a:xfrm>
            <a:off x="8567928" y="2020824"/>
            <a:ext cx="2624328" cy="457200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n-US" sz="2000" b="1">
                <a:solidFill>
                  <a:srgbClr val="152A3A"/>
                </a:solidFill>
                <a:latin typeface="Aptos" panose="020B0004020202020204" pitchFamily="34" charset="0"/>
              </a:rPr>
              <a:t>Continuar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5451D47-8CB2-6751-E3C9-24008D70D71C}"/>
              </a:ext>
            </a:extLst>
          </p:cNvPr>
          <p:cNvSpPr txBox="1"/>
          <p:nvPr/>
        </p:nvSpPr>
        <p:spPr>
          <a:xfrm>
            <a:off x="8412480" y="2587752"/>
            <a:ext cx="2670048" cy="203911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r>
              <a:rPr lang="es-ES" sz="1400">
                <a:solidFill>
                  <a:srgbClr val="263B4A"/>
                </a:solidFill>
                <a:latin typeface="Aptos" panose="020B0004020202020204" pitchFamily="34" charset="0"/>
              </a:rPr>
              <a:t>Nueva ronda para los activos; fin si nadie sigue.</a:t>
            </a:r>
            <a:endParaRPr lang="en-US" sz="1400">
              <a:solidFill>
                <a:srgbClr val="263B4A"/>
              </a:solidFill>
              <a:latin typeface="Aptos" panose="020B00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6124488-B525-A94D-6009-2739E3EF6E97}"/>
              </a:ext>
            </a:extLst>
          </p:cNvPr>
          <p:cNvSpPr txBox="1"/>
          <p:nvPr/>
        </p:nvSpPr>
        <p:spPr>
          <a:xfrm>
            <a:off x="960120" y="5440680"/>
            <a:ext cx="10241280" cy="438912"/>
          </a:xfrm>
          <a:prstGeom prst="rect">
            <a:avLst/>
          </a:prstGeom>
          <a:noFill/>
        </p:spPr>
        <p:txBody>
          <a:bodyPr vert="horz" wrap="square" lIns="88900" tIns="38100" rIns="88900" bIns="38100" rtlCol="0" anchor="t">
            <a:noAutofit/>
          </a:bodyPr>
          <a:lstStyle/>
          <a:p>
            <a:pPr algn="ctr"/>
            <a:r>
              <a:rPr lang="es-ES" sz="1200">
                <a:solidFill>
                  <a:srgbClr val="647584"/>
                </a:solidFill>
                <a:latin typeface="Aptos" panose="020B0004020202020204" pitchFamily="34" charset="0"/>
              </a:rPr>
              <a:t>El retiro se conserva entre rondas; manos y estado de plantado se reinician.</a:t>
            </a:r>
            <a:endParaRPr lang="en-US" sz="1200">
              <a:solidFill>
                <a:srgbClr val="64758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417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1162</Words>
  <Application>Microsoft Office PowerPoint</Application>
  <PresentationFormat>Panorámica</PresentationFormat>
  <Paragraphs>245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Esteban Verduzco Raggio</dc:creator>
  <cp:lastModifiedBy>Esteban Verduzco Raggio</cp:lastModifiedBy>
  <cp:revision>6</cp:revision>
  <dcterms:created xsi:type="dcterms:W3CDTF">2026-10-06T11:59:55Z</dcterms:created>
  <dcterms:modified xsi:type="dcterms:W3CDTF">2026-10-08T16:36:43Z</dcterms:modified>
</cp:coreProperties>
</file>